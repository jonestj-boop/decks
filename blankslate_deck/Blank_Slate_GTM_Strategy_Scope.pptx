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852B"/>
          </a:solidFill>
          <a:ln/>
        </p:spPr>
      </p:sp>
      <p:sp>
        <p:nvSpPr>
          <p:cNvPr id="3" name="Shape 1"/>
          <p:cNvSpPr/>
          <p:nvPr/>
        </p:nvSpPr>
        <p:spPr>
          <a:xfrm>
            <a:off x="8778240" y="-2011680"/>
            <a:ext cx="5669280" cy="5669280"/>
          </a:xfrm>
          <a:prstGeom prst="ellipse">
            <a:avLst/>
          </a:prstGeom>
          <a:solidFill>
            <a:srgbClr val="16273D"/>
          </a:solidFill>
          <a:ln w="12700">
            <a:solidFill>
              <a:srgbClr val="24384F"/>
            </a:solidFill>
            <a:prstDash val="solid"/>
          </a:ln>
        </p:spPr>
      </p:sp>
      <p:sp>
        <p:nvSpPr>
          <p:cNvPr id="4" name="Shape 2"/>
          <p:cNvSpPr/>
          <p:nvPr/>
        </p:nvSpPr>
        <p:spPr>
          <a:xfrm>
            <a:off x="10058400" y="3291840"/>
            <a:ext cx="4206240" cy="4206240"/>
          </a:xfrm>
          <a:prstGeom prst="ellipse">
            <a:avLst/>
          </a:prstGeom>
          <a:ln w="15875">
            <a:solidFill>
              <a:srgbClr val="E8852B">
                <a:alpha val="45000"/>
              </a:srgbClr>
            </a:solidFill>
            <a:prstDash val="solid"/>
          </a:ln>
        </p:spPr>
      </p:sp>
      <p:sp>
        <p:nvSpPr>
          <p:cNvPr id="5" name="Text 3"/>
          <p:cNvSpPr/>
          <p:nvPr/>
        </p:nvSpPr>
        <p:spPr>
          <a:xfrm>
            <a:off x="822960" y="137160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EMBERTRIBE  ×  BLANK SLATE TECHNOLOGIES</a:t>
            </a:r>
            <a:endParaRPr lang="en-US" sz="1200" dirty="0"/>
          </a:p>
        </p:txBody>
      </p:sp>
      <p:sp>
        <p:nvSpPr>
          <p:cNvPr id="6" name="Text 4"/>
          <p:cNvSpPr/>
          <p:nvPr/>
        </p:nvSpPr>
        <p:spPr>
          <a:xfrm>
            <a:off x="777240" y="1874520"/>
            <a:ext cx="9418320" cy="2011680"/>
          </a:xfrm>
          <a:prstGeom prst="rect">
            <a:avLst/>
          </a:prstGeom>
          <a:noFill/>
          <a:ln/>
        </p:spPr>
        <p:txBody>
          <a:bodyPr wrap="square" lIns="0" tIns="0" rIns="0" bIns="0" rtlCol="0" anchor="ctr"/>
          <a:lstStyle/>
          <a:p>
            <a:pPr indent="0" marL="0">
              <a:lnSpc>
                <a:spcPct val="100000"/>
              </a:lnSpc>
              <a:buNone/>
            </a:pPr>
            <a:r>
              <a:rPr lang="en-US" sz="5000" b="1" dirty="0">
                <a:solidFill>
                  <a:srgbClr val="FFFFFF"/>
                </a:solidFill>
                <a:latin typeface="Georgia" pitchFamily="34" charset="0"/>
                <a:ea typeface="Georgia" pitchFamily="34" charset="-122"/>
                <a:cs typeface="Georgia" pitchFamily="34" charset="-120"/>
              </a:rPr>
              <a:t>Building the Commercial</a:t>
            </a:r>
            <a:endParaRPr lang="en-US" sz="5000" dirty="0"/>
          </a:p>
          <a:p>
            <a:pPr indent="0" marL="0">
              <a:lnSpc>
                <a:spcPct val="100000"/>
              </a:lnSpc>
              <a:buNone/>
            </a:pPr>
            <a:r>
              <a:rPr lang="en-US" sz="5000" b="1" dirty="0">
                <a:solidFill>
                  <a:srgbClr val="FFFFFF"/>
                </a:solidFill>
                <a:latin typeface="Georgia" pitchFamily="34" charset="0"/>
                <a:ea typeface="Georgia" pitchFamily="34" charset="-122"/>
                <a:cs typeface="Georgia" pitchFamily="34" charset="-120"/>
              </a:rPr>
              <a:t>Demand Engine</a:t>
            </a:r>
            <a:endParaRPr lang="en-US" sz="5000" dirty="0"/>
          </a:p>
        </p:txBody>
      </p:sp>
      <p:sp>
        <p:nvSpPr>
          <p:cNvPr id="7" name="Text 5"/>
          <p:cNvSpPr/>
          <p:nvPr/>
        </p:nvSpPr>
        <p:spPr>
          <a:xfrm>
            <a:off x="822960" y="3977640"/>
            <a:ext cx="8778240" cy="822960"/>
          </a:xfrm>
          <a:prstGeom prst="rect">
            <a:avLst/>
          </a:prstGeom>
          <a:noFill/>
          <a:ln/>
        </p:spPr>
        <p:txBody>
          <a:bodyPr wrap="square" lIns="0" tIns="0" rIns="0" bIns="0" rtlCol="0" anchor="ctr"/>
          <a:lstStyle/>
          <a:p>
            <a:pPr indent="0" marL="0">
              <a:lnSpc>
                <a:spcPct val="110000"/>
              </a:lnSpc>
              <a:buNone/>
            </a:pPr>
            <a:r>
              <a:rPr lang="en-US" sz="1700" dirty="0">
                <a:solidFill>
                  <a:srgbClr val="DCE7F5"/>
                </a:solidFill>
                <a:latin typeface="Calibri" pitchFamily="34" charset="0"/>
                <a:ea typeface="Calibri" pitchFamily="34" charset="-122"/>
                <a:cs typeface="Calibri" pitchFamily="34" charset="-120"/>
              </a:rPr>
              <a:t>A modular, multi-channel GTM strategy and scope for turning rare credibility and pure inbound into a repeatable revenue engine.</a:t>
            </a:r>
            <a:endParaRPr lang="en-US" sz="1700" dirty="0"/>
          </a:p>
        </p:txBody>
      </p:sp>
      <p:sp>
        <p:nvSpPr>
          <p:cNvPr id="8" name="Shape 6"/>
          <p:cNvSpPr/>
          <p:nvPr/>
        </p:nvSpPr>
        <p:spPr>
          <a:xfrm>
            <a:off x="822960" y="5074920"/>
            <a:ext cx="6217920" cy="0"/>
          </a:xfrm>
          <a:prstGeom prst="line">
            <a:avLst/>
          </a:prstGeom>
          <a:noFill/>
          <a:ln w="12700">
            <a:solidFill>
              <a:srgbClr val="24384F"/>
            </a:solidFill>
            <a:prstDash val="solid"/>
          </a:ln>
        </p:spPr>
      </p:sp>
      <p:sp>
        <p:nvSpPr>
          <p:cNvPr id="9" name="Text 7"/>
          <p:cNvSpPr/>
          <p:nvPr/>
        </p:nvSpPr>
        <p:spPr>
          <a:xfrm>
            <a:off x="822960" y="5257800"/>
            <a:ext cx="7315200" cy="320040"/>
          </a:xfrm>
          <a:prstGeom prst="rect">
            <a:avLst/>
          </a:prstGeom>
          <a:noFill/>
          <a:ln/>
        </p:spPr>
        <p:txBody>
          <a:bodyPr wrap="square" lIns="0" tIns="0" rIns="0" bIns="0" rtlCol="0" anchor="ctr"/>
          <a:lstStyle/>
          <a:p>
            <a:pPr indent="0" marL="0">
              <a:buNone/>
            </a:pPr>
            <a:r>
              <a:rPr lang="en-US" sz="1400" dirty="0">
                <a:solidFill>
                  <a:srgbClr val="93A7C0"/>
                </a:solidFill>
                <a:latin typeface="Calibri" pitchFamily="34" charset="0"/>
                <a:ea typeface="Calibri" pitchFamily="34" charset="-122"/>
                <a:cs typeface="Calibri" pitchFamily="34" charset="-120"/>
              </a:rPr>
              <a:t>Prepared for  </a:t>
            </a:r>
            <a:pPr indent="0" marL="0">
              <a:buNone/>
            </a:pPr>
            <a:r>
              <a:rPr lang="en-US" sz="1400" b="1" dirty="0">
                <a:solidFill>
                  <a:srgbClr val="FFFFFF"/>
                </a:solidFill>
                <a:latin typeface="Calibri" pitchFamily="34" charset="0"/>
                <a:ea typeface="Calibri" pitchFamily="34" charset="-122"/>
                <a:cs typeface="Calibri" pitchFamily="34" charset="-120"/>
              </a:rPr>
              <a:t>Derek Sanchez</a:t>
            </a:r>
            <a:pPr indent="0" marL="0">
              <a:buNone/>
            </a:pPr>
            <a:r>
              <a:rPr lang="en-US" sz="1400" dirty="0">
                <a:solidFill>
                  <a:srgbClr val="DCE7F5"/>
                </a:solidFill>
                <a:latin typeface="Calibri" pitchFamily="34" charset="0"/>
                <a:ea typeface="Calibri" pitchFamily="34" charset="-122"/>
                <a:cs typeface="Calibri" pitchFamily="34" charset="-120"/>
              </a:rPr>
              <a:t>, Chief Revenue Officer</a:t>
            </a:r>
            <a:endParaRPr lang="en-US" sz="1400" dirty="0"/>
          </a:p>
        </p:txBody>
      </p:sp>
      <p:sp>
        <p:nvSpPr>
          <p:cNvPr id="10" name="Text 8"/>
          <p:cNvSpPr/>
          <p:nvPr/>
        </p:nvSpPr>
        <p:spPr>
          <a:xfrm>
            <a:off x="822960" y="5623560"/>
            <a:ext cx="7315200" cy="274320"/>
          </a:xfrm>
          <a:prstGeom prst="rect">
            <a:avLst/>
          </a:prstGeom>
          <a:noFill/>
          <a:ln/>
        </p:spPr>
        <p:txBody>
          <a:bodyPr wrap="square" lIns="0" tIns="0" rIns="0" bIns="0" rtlCol="0" anchor="ctr"/>
          <a:lstStyle/>
          <a:p>
            <a:pPr indent="0" marL="0">
              <a:buNone/>
            </a:pPr>
            <a:r>
              <a:rPr lang="en-US" sz="1200" dirty="0">
                <a:solidFill>
                  <a:srgbClr val="93A7C0"/>
                </a:solidFill>
                <a:latin typeface="Calibri" pitchFamily="34" charset="0"/>
                <a:ea typeface="Calibri" pitchFamily="34" charset="-122"/>
                <a:cs typeface="Calibri" pitchFamily="34" charset="-120"/>
              </a:rPr>
              <a:t>June 2026   ·   For discussion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THE MOMENT</a:t>
            </a:r>
            <a:endParaRPr lang="en-US" sz="1200" dirty="0"/>
          </a:p>
        </p:txBody>
      </p:sp>
      <p:sp>
        <p:nvSpPr>
          <p:cNvPr id="3" name="Text 1"/>
          <p:cNvSpPr/>
          <p:nvPr/>
        </p:nvSpPr>
        <p:spPr>
          <a:xfrm>
            <a:off x="640080" y="777240"/>
            <a:ext cx="10972800" cy="640080"/>
          </a:xfrm>
          <a:prstGeom prst="rect">
            <a:avLst/>
          </a:prstGeom>
          <a:noFill/>
          <a:ln/>
        </p:spPr>
        <p:txBody>
          <a:bodyPr wrap="square" lIns="0" tIns="0" rIns="0" bIns="0" rtlCol="0" anchor="ctr"/>
          <a:lstStyle/>
          <a:p>
            <a:pPr indent="0" marL="0">
              <a:buNone/>
            </a:pPr>
            <a:r>
              <a:rPr lang="en-US" sz="2800" b="1" dirty="0">
                <a:solidFill>
                  <a:srgbClr val="1A2738"/>
                </a:solidFill>
                <a:latin typeface="Georgia" pitchFamily="34" charset="0"/>
                <a:ea typeface="Georgia" pitchFamily="34" charset="-122"/>
                <a:cs typeface="Georgia" pitchFamily="34" charset="-120"/>
              </a:rPr>
              <a:t>Three signals that make this the right time to move</a:t>
            </a:r>
            <a:endParaRPr lang="en-US" sz="2800" dirty="0"/>
          </a:p>
        </p:txBody>
      </p:sp>
      <p:sp>
        <p:nvSpPr>
          <p:cNvPr id="4" name="Shape 2"/>
          <p:cNvSpPr/>
          <p:nvPr/>
        </p:nvSpPr>
        <p:spPr>
          <a:xfrm>
            <a:off x="640080" y="1691640"/>
            <a:ext cx="3511296" cy="278892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5" name="Shape 3"/>
          <p:cNvSpPr/>
          <p:nvPr/>
        </p:nvSpPr>
        <p:spPr>
          <a:xfrm>
            <a:off x="640080" y="1691640"/>
            <a:ext cx="3511296" cy="82296"/>
          </a:xfrm>
          <a:prstGeom prst="rect">
            <a:avLst/>
          </a:prstGeom>
          <a:solidFill>
            <a:srgbClr val="E8852B"/>
          </a:solidFill>
          <a:ln/>
        </p:spPr>
      </p:sp>
      <p:sp>
        <p:nvSpPr>
          <p:cNvPr id="6" name="Shape 4"/>
          <p:cNvSpPr/>
          <p:nvPr/>
        </p:nvSpPr>
        <p:spPr>
          <a:xfrm>
            <a:off x="960120" y="2011680"/>
            <a:ext cx="713232" cy="713232"/>
          </a:xfrm>
          <a:prstGeom prst="ellipse">
            <a:avLst/>
          </a:prstGeom>
          <a:solidFill>
            <a:srgbClr val="0E1A2B"/>
          </a:solidFill>
          <a:ln/>
        </p:spPr>
      </p:sp>
      <p:pic>
        <p:nvPicPr>
          <p:cNvPr id="7" name="Image 0" descr="preencoded.png">    </p:cNvPr>
          <p:cNvPicPr>
            <a:picLocks noChangeAspect="1"/>
          </p:cNvPicPr>
          <p:nvPr/>
        </p:nvPicPr>
        <p:blipFill>
          <a:blip r:embed="rId1"/>
          <a:stretch>
            <a:fillRect/>
          </a:stretch>
        </p:blipFill>
        <p:spPr>
          <a:xfrm>
            <a:off x="1143000" y="2194560"/>
            <a:ext cx="347472" cy="347472"/>
          </a:xfrm>
          <a:prstGeom prst="rect">
            <a:avLst/>
          </a:prstGeom>
        </p:spPr>
      </p:pic>
      <p:sp>
        <p:nvSpPr>
          <p:cNvPr id="8" name="Text 5"/>
          <p:cNvSpPr/>
          <p:nvPr/>
        </p:nvSpPr>
        <p:spPr>
          <a:xfrm>
            <a:off x="960120" y="2852928"/>
            <a:ext cx="2871216" cy="548640"/>
          </a:xfrm>
          <a:prstGeom prst="rect">
            <a:avLst/>
          </a:prstGeom>
          <a:noFill/>
          <a:ln/>
        </p:spPr>
        <p:txBody>
          <a:bodyPr wrap="square" lIns="0" tIns="0" rIns="0" bIns="0" rtlCol="0" anchor="ctr"/>
          <a:lstStyle/>
          <a:p>
            <a:pPr indent="0" marL="0">
              <a:buNone/>
            </a:pPr>
            <a:r>
              <a:rPr lang="en-US" sz="1650" b="1" dirty="0">
                <a:solidFill>
                  <a:srgbClr val="1A2738"/>
                </a:solidFill>
                <a:latin typeface="Georgia" pitchFamily="34" charset="0"/>
                <a:ea typeface="Georgia" pitchFamily="34" charset="-122"/>
                <a:cs typeface="Georgia" pitchFamily="34" charset="-120"/>
              </a:rPr>
              <a:t>Fresh capital in the bank</a:t>
            </a:r>
            <a:endParaRPr lang="en-US" sz="1650" dirty="0"/>
          </a:p>
        </p:txBody>
      </p:sp>
      <p:sp>
        <p:nvSpPr>
          <p:cNvPr id="9" name="Text 6"/>
          <p:cNvSpPr/>
          <p:nvPr/>
        </p:nvSpPr>
        <p:spPr>
          <a:xfrm>
            <a:off x="960120" y="3419856"/>
            <a:ext cx="2871216" cy="960120"/>
          </a:xfrm>
          <a:prstGeom prst="rect">
            <a:avLst/>
          </a:prstGeom>
          <a:noFill/>
          <a:ln/>
        </p:spPr>
        <p:txBody>
          <a:bodyPr wrap="square" lIns="0" tIns="0" rIns="0" bIns="0" rtlCol="0" anchor="ctr"/>
          <a:lstStyle/>
          <a:p>
            <a:pPr indent="0" marL="0">
              <a:lnSpc>
                <a:spcPct val="105000"/>
              </a:lnSpc>
              <a:buNone/>
            </a:pPr>
            <a:r>
              <a:rPr lang="en-US" sz="1250" dirty="0">
                <a:solidFill>
                  <a:srgbClr val="5C6B7E"/>
                </a:solidFill>
                <a:latin typeface="Calibri" pitchFamily="34" charset="0"/>
                <a:ea typeface="Calibri" pitchFamily="34" charset="-122"/>
                <a:cs typeface="Calibri" pitchFamily="34" charset="-120"/>
              </a:rPr>
              <a:t>A ~$6.4M round closed Jan 2026, with Boeing, DIU and United Airlines among 27 investors. Post-raise pressure is to convert cash into repeatable revenue, fast.</a:t>
            </a:r>
            <a:endParaRPr lang="en-US" sz="1250" dirty="0"/>
          </a:p>
        </p:txBody>
      </p:sp>
      <p:sp>
        <p:nvSpPr>
          <p:cNvPr id="10" name="Shape 7"/>
          <p:cNvSpPr/>
          <p:nvPr/>
        </p:nvSpPr>
        <p:spPr>
          <a:xfrm>
            <a:off x="4434840" y="1691640"/>
            <a:ext cx="3511296" cy="278892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1" name="Shape 8"/>
          <p:cNvSpPr/>
          <p:nvPr/>
        </p:nvSpPr>
        <p:spPr>
          <a:xfrm>
            <a:off x="4434840" y="1691640"/>
            <a:ext cx="3511296" cy="82296"/>
          </a:xfrm>
          <a:prstGeom prst="rect">
            <a:avLst/>
          </a:prstGeom>
          <a:solidFill>
            <a:srgbClr val="E8852B"/>
          </a:solidFill>
          <a:ln/>
        </p:spPr>
      </p:sp>
      <p:sp>
        <p:nvSpPr>
          <p:cNvPr id="12" name="Shape 9"/>
          <p:cNvSpPr/>
          <p:nvPr/>
        </p:nvSpPr>
        <p:spPr>
          <a:xfrm>
            <a:off x="4754880" y="2011680"/>
            <a:ext cx="713232" cy="713232"/>
          </a:xfrm>
          <a:prstGeom prst="ellipse">
            <a:avLst/>
          </a:prstGeom>
          <a:solidFill>
            <a:srgbClr val="0E1A2B"/>
          </a:solidFill>
          <a:ln/>
        </p:spPr>
      </p:sp>
      <p:pic>
        <p:nvPicPr>
          <p:cNvPr id="13" name="Image 1" descr="preencoded.png">    </p:cNvPr>
          <p:cNvPicPr>
            <a:picLocks noChangeAspect="1"/>
          </p:cNvPicPr>
          <p:nvPr/>
        </p:nvPicPr>
        <p:blipFill>
          <a:blip r:embed="rId2"/>
          <a:stretch>
            <a:fillRect/>
          </a:stretch>
        </p:blipFill>
        <p:spPr>
          <a:xfrm>
            <a:off x="4937760" y="2194560"/>
            <a:ext cx="347472" cy="347472"/>
          </a:xfrm>
          <a:prstGeom prst="rect">
            <a:avLst/>
          </a:prstGeom>
        </p:spPr>
      </p:pic>
      <p:sp>
        <p:nvSpPr>
          <p:cNvPr id="14" name="Text 10"/>
          <p:cNvSpPr/>
          <p:nvPr/>
        </p:nvSpPr>
        <p:spPr>
          <a:xfrm>
            <a:off x="4754880" y="2852928"/>
            <a:ext cx="2871216" cy="548640"/>
          </a:xfrm>
          <a:prstGeom prst="rect">
            <a:avLst/>
          </a:prstGeom>
          <a:noFill/>
          <a:ln/>
        </p:spPr>
        <p:txBody>
          <a:bodyPr wrap="square" lIns="0" tIns="0" rIns="0" bIns="0" rtlCol="0" anchor="ctr"/>
          <a:lstStyle/>
          <a:p>
            <a:pPr indent="0" marL="0">
              <a:buNone/>
            </a:pPr>
            <a:r>
              <a:rPr lang="en-US" sz="1650" b="1" dirty="0">
                <a:solidFill>
                  <a:srgbClr val="1A2738"/>
                </a:solidFill>
                <a:latin typeface="Georgia" pitchFamily="34" charset="0"/>
                <a:ea typeface="Georgia" pitchFamily="34" charset="-122"/>
                <a:cs typeface="Georgia" pitchFamily="34" charset="-120"/>
              </a:rPr>
              <a:t>A new revenue mandate</a:t>
            </a:r>
            <a:endParaRPr lang="en-US" sz="1650" dirty="0"/>
          </a:p>
        </p:txBody>
      </p:sp>
      <p:sp>
        <p:nvSpPr>
          <p:cNvPr id="15" name="Text 11"/>
          <p:cNvSpPr/>
          <p:nvPr/>
        </p:nvSpPr>
        <p:spPr>
          <a:xfrm>
            <a:off x="4754880" y="3419856"/>
            <a:ext cx="2871216" cy="960120"/>
          </a:xfrm>
          <a:prstGeom prst="rect">
            <a:avLst/>
          </a:prstGeom>
          <a:noFill/>
          <a:ln/>
        </p:spPr>
        <p:txBody>
          <a:bodyPr wrap="square" lIns="0" tIns="0" rIns="0" bIns="0" rtlCol="0" anchor="ctr"/>
          <a:lstStyle/>
          <a:p>
            <a:pPr indent="0" marL="0">
              <a:lnSpc>
                <a:spcPct val="105000"/>
              </a:lnSpc>
              <a:buNone/>
            </a:pPr>
            <a:r>
              <a:rPr lang="en-US" sz="1250" dirty="0">
                <a:solidFill>
                  <a:srgbClr val="5C6B7E"/>
                </a:solidFill>
                <a:latin typeface="Calibri" pitchFamily="34" charset="0"/>
                <a:ea typeface="Calibri" pitchFamily="34" charset="-122"/>
                <a:cs typeface="Calibri" pitchFamily="34" charset="-120"/>
              </a:rPr>
              <a:t>Derek joins as CRO with a clean slate: no CRM, no defined ICP, no sales process. New revenue leaders buy outside leverage to hit the number.</a:t>
            </a:r>
            <a:endParaRPr lang="en-US" sz="1250" dirty="0"/>
          </a:p>
        </p:txBody>
      </p:sp>
      <p:sp>
        <p:nvSpPr>
          <p:cNvPr id="16" name="Shape 12"/>
          <p:cNvSpPr/>
          <p:nvPr/>
        </p:nvSpPr>
        <p:spPr>
          <a:xfrm>
            <a:off x="8229600" y="1691640"/>
            <a:ext cx="3511296" cy="278892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7" name="Shape 13"/>
          <p:cNvSpPr/>
          <p:nvPr/>
        </p:nvSpPr>
        <p:spPr>
          <a:xfrm>
            <a:off x="8229600" y="1691640"/>
            <a:ext cx="3511296" cy="82296"/>
          </a:xfrm>
          <a:prstGeom prst="rect">
            <a:avLst/>
          </a:prstGeom>
          <a:solidFill>
            <a:srgbClr val="E8852B"/>
          </a:solidFill>
          <a:ln/>
        </p:spPr>
      </p:sp>
      <p:sp>
        <p:nvSpPr>
          <p:cNvPr id="18" name="Shape 14"/>
          <p:cNvSpPr/>
          <p:nvPr/>
        </p:nvSpPr>
        <p:spPr>
          <a:xfrm>
            <a:off x="8549640" y="2011680"/>
            <a:ext cx="713232" cy="713232"/>
          </a:xfrm>
          <a:prstGeom prst="ellipse">
            <a:avLst/>
          </a:prstGeom>
          <a:solidFill>
            <a:srgbClr val="0E1A2B"/>
          </a:solidFill>
          <a:ln/>
        </p:spPr>
      </p:sp>
      <p:pic>
        <p:nvPicPr>
          <p:cNvPr id="19" name="Image 2" descr="preencoded.png">    </p:cNvPr>
          <p:cNvPicPr>
            <a:picLocks noChangeAspect="1"/>
          </p:cNvPicPr>
          <p:nvPr/>
        </p:nvPicPr>
        <p:blipFill>
          <a:blip r:embed="rId3"/>
          <a:stretch>
            <a:fillRect/>
          </a:stretch>
        </p:blipFill>
        <p:spPr>
          <a:xfrm>
            <a:off x="8732520" y="2194560"/>
            <a:ext cx="347472" cy="347472"/>
          </a:xfrm>
          <a:prstGeom prst="rect">
            <a:avLst/>
          </a:prstGeom>
        </p:spPr>
      </p:pic>
      <p:sp>
        <p:nvSpPr>
          <p:cNvPr id="20" name="Text 15"/>
          <p:cNvSpPr/>
          <p:nvPr/>
        </p:nvSpPr>
        <p:spPr>
          <a:xfrm>
            <a:off x="8549640" y="2852928"/>
            <a:ext cx="2871216" cy="548640"/>
          </a:xfrm>
          <a:prstGeom prst="rect">
            <a:avLst/>
          </a:prstGeom>
          <a:noFill/>
          <a:ln/>
        </p:spPr>
        <p:txBody>
          <a:bodyPr wrap="square" lIns="0" tIns="0" rIns="0" bIns="0" rtlCol="0" anchor="ctr"/>
          <a:lstStyle/>
          <a:p>
            <a:pPr indent="0" marL="0">
              <a:buNone/>
            </a:pPr>
            <a:r>
              <a:rPr lang="en-US" sz="1650" b="1" dirty="0">
                <a:solidFill>
                  <a:srgbClr val="1A2738"/>
                </a:solidFill>
                <a:latin typeface="Georgia" pitchFamily="34" charset="0"/>
                <a:ea typeface="Georgia" pitchFamily="34" charset="-122"/>
                <a:cs typeface="Georgia" pitchFamily="34" charset="-120"/>
              </a:rPr>
              <a:t>Proven motion, no engine</a:t>
            </a:r>
            <a:endParaRPr lang="en-US" sz="1650" dirty="0"/>
          </a:p>
        </p:txBody>
      </p:sp>
      <p:sp>
        <p:nvSpPr>
          <p:cNvPr id="21" name="Text 16"/>
          <p:cNvSpPr/>
          <p:nvPr/>
        </p:nvSpPr>
        <p:spPr>
          <a:xfrm>
            <a:off x="8549640" y="3419856"/>
            <a:ext cx="2871216" cy="960120"/>
          </a:xfrm>
          <a:prstGeom prst="rect">
            <a:avLst/>
          </a:prstGeom>
          <a:noFill/>
          <a:ln/>
        </p:spPr>
        <p:txBody>
          <a:bodyPr wrap="square" lIns="0" tIns="0" rIns="0" bIns="0" rtlCol="0" anchor="ctr"/>
          <a:lstStyle/>
          <a:p>
            <a:pPr indent="0" marL="0">
              <a:lnSpc>
                <a:spcPct val="105000"/>
              </a:lnSpc>
              <a:buNone/>
            </a:pPr>
            <a:r>
              <a:rPr lang="en-US" sz="1250" dirty="0">
                <a:solidFill>
                  <a:srgbClr val="5C6B7E"/>
                </a:solidFill>
                <a:latin typeface="Calibri" pitchFamily="34" charset="0"/>
                <a:ea typeface="Calibri" pitchFamily="34" charset="-122"/>
                <a:cs typeface="Calibri" pitchFamily="34" charset="-120"/>
              </a:rPr>
              <a:t>Defense-grade proof and elite inbound, but everything is inbound. The one missing piece is a scalable system to create demand on purpose.</a:t>
            </a:r>
            <a:endParaRPr lang="en-US" sz="1250" dirty="0"/>
          </a:p>
        </p:txBody>
      </p:sp>
      <p:sp>
        <p:nvSpPr>
          <p:cNvPr id="22" name="Shape 17"/>
          <p:cNvSpPr/>
          <p:nvPr/>
        </p:nvSpPr>
        <p:spPr>
          <a:xfrm>
            <a:off x="640080" y="4754880"/>
            <a:ext cx="10908792" cy="1325880"/>
          </a:xfrm>
          <a:prstGeom prst="rect">
            <a:avLst/>
          </a:prstGeom>
          <a:solidFill>
            <a:srgbClr val="0E1A2B"/>
          </a:solidFill>
          <a:ln/>
        </p:spPr>
      </p:sp>
      <p:sp>
        <p:nvSpPr>
          <p:cNvPr id="23" name="Shape 18"/>
          <p:cNvSpPr/>
          <p:nvPr/>
        </p:nvSpPr>
        <p:spPr>
          <a:xfrm>
            <a:off x="640080" y="4754880"/>
            <a:ext cx="109728" cy="1325880"/>
          </a:xfrm>
          <a:prstGeom prst="rect">
            <a:avLst/>
          </a:prstGeom>
          <a:solidFill>
            <a:srgbClr val="E8852B"/>
          </a:solidFill>
          <a:ln/>
        </p:spPr>
      </p:sp>
      <p:sp>
        <p:nvSpPr>
          <p:cNvPr id="24" name="Text 19"/>
          <p:cNvSpPr/>
          <p:nvPr/>
        </p:nvSpPr>
        <p:spPr>
          <a:xfrm>
            <a:off x="1005840" y="4937760"/>
            <a:ext cx="10241280" cy="960120"/>
          </a:xfrm>
          <a:prstGeom prst="rect">
            <a:avLst/>
          </a:prstGeom>
          <a:noFill/>
          <a:ln/>
        </p:spPr>
        <p:txBody>
          <a:bodyPr wrap="square" lIns="0" tIns="0" rIns="0" bIns="0" rtlCol="0" anchor="ctr"/>
          <a:lstStyle/>
          <a:p>
            <a:pPr indent="0" marL="0">
              <a:lnSpc>
                <a:spcPct val="105000"/>
              </a:lnSpc>
              <a:buNone/>
            </a:pPr>
            <a:r>
              <a:rPr lang="en-US" sz="1600" i="1" dirty="0">
                <a:solidFill>
                  <a:srgbClr val="FFFFFF"/>
                </a:solidFill>
                <a:latin typeface="Georgia" pitchFamily="34" charset="0"/>
                <a:ea typeface="Georgia" pitchFamily="34" charset="-122"/>
                <a:cs typeface="Georgia" pitchFamily="34" charset="-120"/>
              </a:rPr>
              <a:t>“We have the biggest companies in the world inbound to us, wanting to use our product, and we're trying to figure out how to go to market.”</a:t>
            </a:r>
            <a:endParaRPr lang="en-US" sz="1600" dirty="0"/>
          </a:p>
          <a:p>
            <a:pPr indent="0" marL="0">
              <a:lnSpc>
                <a:spcPct val="105000"/>
              </a:lnSpc>
              <a:buNone/>
            </a:pPr>
            <a:r>
              <a:rPr lang="en-US" sz="1200" b="1" dirty="0">
                <a:solidFill>
                  <a:srgbClr val="F2A33C"/>
                </a:solidFill>
                <a:latin typeface="Georgia" pitchFamily="34" charset="0"/>
                <a:ea typeface="Georgia" pitchFamily="34" charset="-122"/>
                <a:cs typeface="Georgia" pitchFamily="34" charset="-120"/>
              </a:rPr>
              <a:t>Derek Sanchez, CRO   ·   discovery call</a:t>
            </a:r>
            <a:endParaRPr lang="en-US" sz="1600" dirty="0"/>
          </a:p>
        </p:txBody>
      </p:sp>
      <p:sp>
        <p:nvSpPr>
          <p:cNvPr id="25" name="Text 20"/>
          <p:cNvSpPr/>
          <p:nvPr/>
        </p:nvSpPr>
        <p:spPr>
          <a:xfrm>
            <a:off x="640080" y="6419088"/>
            <a:ext cx="8229600" cy="274320"/>
          </a:xfrm>
          <a:prstGeom prst="rect">
            <a:avLst/>
          </a:prstGeom>
          <a:noFill/>
          <a:ln/>
        </p:spPr>
        <p:txBody>
          <a:bodyPr wrap="square" lIns="0" tIns="0" rIns="0" bIns="0" rtlCol="0" anchor="ctr"/>
          <a:lstStyle/>
          <a:p>
            <a:pPr indent="0" marL="0">
              <a:buNone/>
            </a:pPr>
            <a:r>
              <a:rPr lang="en-US" sz="900" b="1" dirty="0">
                <a:solidFill>
                  <a:srgbClr val="1A2738"/>
                </a:solidFill>
                <a:latin typeface="Calibri" pitchFamily="34" charset="0"/>
                <a:ea typeface="Calibri" pitchFamily="34" charset="-122"/>
                <a:cs typeface="Calibri" pitchFamily="34" charset="-120"/>
              </a:rPr>
              <a:t>EmberTribe</a:t>
            </a:r>
            <a:pPr indent="0" marL="0">
              <a:buNone/>
            </a:pPr>
            <a:r>
              <a:rPr lang="en-US" sz="900" dirty="0">
                <a:solidFill>
                  <a:srgbClr val="5C6B7E"/>
                </a:solidFill>
                <a:latin typeface="Calibri" pitchFamily="34" charset="0"/>
                <a:ea typeface="Calibri" pitchFamily="34" charset="-122"/>
                <a:cs typeface="Calibri" pitchFamily="34" charset="-120"/>
              </a:rPr>
              <a:t>   ·   Confidential   ·   Prepared for Blank Slate Technologies</a:t>
            </a:r>
            <a:endParaRPr lang="en-US" sz="900" dirty="0"/>
          </a:p>
        </p:txBody>
      </p:sp>
      <p:sp>
        <p:nvSpPr>
          <p:cNvPr id="26" name="Text 21"/>
          <p:cNvSpPr/>
          <p:nvPr/>
        </p:nvSpPr>
        <p:spPr>
          <a:xfrm>
            <a:off x="11338560" y="6419088"/>
            <a:ext cx="457200" cy="274320"/>
          </a:xfrm>
          <a:prstGeom prst="rect">
            <a:avLst/>
          </a:prstGeom>
          <a:noFill/>
          <a:ln/>
        </p:spPr>
        <p:txBody>
          <a:bodyPr wrap="square" lIns="0" tIns="0" rIns="0" bIns="0"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WHAT WE HEARD</a:t>
            </a:r>
            <a:endParaRPr lang="en-US" sz="1200" dirty="0"/>
          </a:p>
        </p:txBody>
      </p:sp>
      <p:sp>
        <p:nvSpPr>
          <p:cNvPr id="3" name="Text 1"/>
          <p:cNvSpPr/>
          <p:nvPr/>
        </p:nvSpPr>
        <p:spPr>
          <a:xfrm>
            <a:off x="640080" y="777240"/>
            <a:ext cx="10972800" cy="640080"/>
          </a:xfrm>
          <a:prstGeom prst="rect">
            <a:avLst/>
          </a:prstGeom>
          <a:noFill/>
          <a:ln/>
        </p:spPr>
        <p:txBody>
          <a:bodyPr wrap="square" lIns="0" tIns="0" rIns="0" bIns="0" rtlCol="0" anchor="ctr"/>
          <a:lstStyle/>
          <a:p>
            <a:pPr indent="0" marL="0">
              <a:buNone/>
            </a:pPr>
            <a:r>
              <a:rPr lang="en-US" sz="2800" b="1" dirty="0">
                <a:solidFill>
                  <a:srgbClr val="1A2738"/>
                </a:solidFill>
                <a:latin typeface="Georgia" pitchFamily="34" charset="0"/>
                <a:ea typeface="Georgia" pitchFamily="34" charset="-122"/>
                <a:cs typeface="Georgia" pitchFamily="34" charset="-120"/>
              </a:rPr>
              <a:t>We built this around your words, not a template</a:t>
            </a:r>
            <a:endParaRPr lang="en-US" sz="2800" dirty="0"/>
          </a:p>
        </p:txBody>
      </p:sp>
      <p:sp>
        <p:nvSpPr>
          <p:cNvPr id="4" name="Shape 2"/>
          <p:cNvSpPr/>
          <p:nvPr/>
        </p:nvSpPr>
        <p:spPr>
          <a:xfrm>
            <a:off x="640080" y="1691640"/>
            <a:ext cx="5349240" cy="370332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5" name="Shape 3"/>
          <p:cNvSpPr/>
          <p:nvPr/>
        </p:nvSpPr>
        <p:spPr>
          <a:xfrm>
            <a:off x="640080" y="1691640"/>
            <a:ext cx="5349240" cy="566928"/>
          </a:xfrm>
          <a:prstGeom prst="rect">
            <a:avLst/>
          </a:prstGeom>
          <a:solidFill>
            <a:srgbClr val="0E1A2B"/>
          </a:solidFill>
          <a:ln/>
        </p:spPr>
      </p:sp>
      <p:sp>
        <p:nvSpPr>
          <p:cNvPr id="6" name="Text 4"/>
          <p:cNvSpPr/>
          <p:nvPr/>
        </p:nvSpPr>
        <p:spPr>
          <a:xfrm>
            <a:off x="914400" y="1691640"/>
            <a:ext cx="4846320" cy="56692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The reality today</a:t>
            </a:r>
            <a:endParaRPr lang="en-US" sz="1600" dirty="0"/>
          </a:p>
        </p:txBody>
      </p:sp>
      <p:sp>
        <p:nvSpPr>
          <p:cNvPr id="7" name="Text 5"/>
          <p:cNvSpPr/>
          <p:nvPr/>
        </p:nvSpPr>
        <p:spPr>
          <a:xfrm>
            <a:off x="914400" y="2468880"/>
            <a:ext cx="4846320" cy="2788920"/>
          </a:xfrm>
          <a:prstGeom prst="rect">
            <a:avLst/>
          </a:prstGeom>
          <a:noFill/>
          <a:ln/>
        </p:spPr>
        <p:txBody>
          <a:bodyPr wrap="square" lIns="0" tIns="0" rIns="0" bIns="0" rtlCol="0" anchor="ctr"/>
          <a:lstStyle/>
          <a:p>
            <a:pPr marL="203200" indent="-203200">
              <a:lnSpc>
                <a:spcPct val="100000"/>
              </a:lnSpc>
              <a:spcAft>
                <a:spcPts val="900"/>
              </a:spcAft>
              <a:buSzPct val="100000"/>
              <a:buChar char="•"/>
            </a:pPr>
            <a:r>
              <a:rPr lang="en-US" sz="1300" dirty="0">
                <a:solidFill>
                  <a:srgbClr val="1A2738"/>
                </a:solidFill>
                <a:latin typeface="Calibri" pitchFamily="34" charset="0"/>
                <a:ea typeface="Calibri" pitchFamily="34" charset="-122"/>
                <a:cs typeface="Calibri" pitchFamily="34" charset="-120"/>
              </a:rPr>
              <a:t>100% inbound. No outbound motion has ever been built</a:t>
            </a:r>
            <a:endParaRPr lang="en-US" sz="1300" dirty="0"/>
          </a:p>
          <a:p>
            <a:pPr marL="203200" indent="-203200">
              <a:lnSpc>
                <a:spcPct val="100000"/>
              </a:lnSpc>
              <a:spcAft>
                <a:spcPts val="900"/>
              </a:spcAft>
              <a:buSzPct val="100000"/>
              <a:buChar char="•"/>
            </a:pPr>
            <a:r>
              <a:rPr lang="en-US" sz="1300" dirty="0">
                <a:solidFill>
                  <a:srgbClr val="1A2738"/>
                </a:solidFill>
                <a:latin typeface="Calibri" pitchFamily="34" charset="0"/>
                <a:ea typeface="Calibri" pitchFamily="34" charset="-122"/>
                <a:cs typeface="Calibri" pitchFamily="34" charset="-120"/>
              </a:rPr>
              <a:t>No CRM, no defined ICP, no documented sales process</a:t>
            </a:r>
            <a:endParaRPr lang="en-US" sz="1300" dirty="0"/>
          </a:p>
          <a:p>
            <a:pPr marL="203200" indent="-203200">
              <a:lnSpc>
                <a:spcPct val="100000"/>
              </a:lnSpc>
              <a:spcAft>
                <a:spcPts val="900"/>
              </a:spcAft>
              <a:buSzPct val="100000"/>
              <a:buChar char="•"/>
            </a:pPr>
            <a:r>
              <a:rPr lang="en-US" sz="1300" dirty="0">
                <a:solidFill>
                  <a:srgbClr val="1A2738"/>
                </a:solidFill>
                <a:latin typeface="Calibri" pitchFamily="34" charset="0"/>
                <a:ea typeface="Calibri" pitchFamily="34" charset="-122"/>
                <a:cs typeface="Calibri" pitchFamily="34" charset="-120"/>
              </a:rPr>
              <a:t>Government &amp; aviation cycles are slow; commercial budgets move faster</a:t>
            </a:r>
            <a:endParaRPr lang="en-US" sz="1300" dirty="0"/>
          </a:p>
          <a:p>
            <a:pPr marL="203200" indent="-203200">
              <a:lnSpc>
                <a:spcPct val="100000"/>
              </a:lnSpc>
              <a:spcAft>
                <a:spcPts val="900"/>
              </a:spcAft>
              <a:buSzPct val="100000"/>
              <a:buChar char="•"/>
            </a:pPr>
            <a:r>
              <a:rPr lang="en-US" sz="1300" dirty="0">
                <a:solidFill>
                  <a:srgbClr val="1A2738"/>
                </a:solidFill>
                <a:latin typeface="Calibri" pitchFamily="34" charset="0"/>
                <a:ea typeface="Calibri" pitchFamily="34" charset="-122"/>
                <a:cs typeface="Calibri" pitchFamily="34" charset="-120"/>
              </a:rPr>
              <a:t>Lean team even post-raise, so they need leverage, not more slideware</a:t>
            </a:r>
            <a:endParaRPr lang="en-US" sz="1300" dirty="0"/>
          </a:p>
          <a:p>
            <a:pPr marL="203200" indent="-203200">
              <a:lnSpc>
                <a:spcPct val="100000"/>
              </a:lnSpc>
              <a:spcAft>
                <a:spcPts val="900"/>
              </a:spcAft>
              <a:buSzPct val="100000"/>
              <a:buChar char="•"/>
            </a:pPr>
            <a:r>
              <a:rPr lang="en-US" sz="1300" dirty="0">
                <a:solidFill>
                  <a:srgbClr val="1A2738"/>
                </a:solidFill>
                <a:latin typeface="Calibri" pitchFamily="34" charset="0"/>
                <a:ea typeface="Calibri" pitchFamily="34" charset="-122"/>
                <a:cs typeface="Calibri" pitchFamily="34" charset="-120"/>
              </a:rPr>
              <a:t>An unfilled six-figure role plus a ~$70K/yr vendor just cut. Real budget freed up</a:t>
            </a:r>
            <a:endParaRPr lang="en-US" sz="1300" dirty="0"/>
          </a:p>
        </p:txBody>
      </p:sp>
      <p:sp>
        <p:nvSpPr>
          <p:cNvPr id="8" name="Shape 6"/>
          <p:cNvSpPr/>
          <p:nvPr/>
        </p:nvSpPr>
        <p:spPr>
          <a:xfrm>
            <a:off x="6199632" y="1691640"/>
            <a:ext cx="5349240" cy="370332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9" name="Shape 7"/>
          <p:cNvSpPr/>
          <p:nvPr/>
        </p:nvSpPr>
        <p:spPr>
          <a:xfrm>
            <a:off x="6199632" y="1691640"/>
            <a:ext cx="5349240" cy="566928"/>
          </a:xfrm>
          <a:prstGeom prst="rect">
            <a:avLst/>
          </a:prstGeom>
          <a:solidFill>
            <a:srgbClr val="E8852B"/>
          </a:solidFill>
          <a:ln/>
        </p:spPr>
      </p:sp>
      <p:sp>
        <p:nvSpPr>
          <p:cNvPr id="10" name="Text 8"/>
          <p:cNvSpPr/>
          <p:nvPr/>
        </p:nvSpPr>
        <p:spPr>
          <a:xfrm>
            <a:off x="6473952" y="1691640"/>
            <a:ext cx="4846320" cy="56692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Derek's stated priority order</a:t>
            </a:r>
            <a:endParaRPr lang="en-US" sz="1600" dirty="0"/>
          </a:p>
        </p:txBody>
      </p:sp>
      <p:sp>
        <p:nvSpPr>
          <p:cNvPr id="11" name="Shape 9"/>
          <p:cNvSpPr/>
          <p:nvPr/>
        </p:nvSpPr>
        <p:spPr>
          <a:xfrm>
            <a:off x="6473952" y="2432304"/>
            <a:ext cx="566928" cy="566928"/>
          </a:xfrm>
          <a:prstGeom prst="ellipse">
            <a:avLst/>
          </a:prstGeom>
          <a:solidFill>
            <a:srgbClr val="0E1A2B"/>
          </a:solidFill>
          <a:ln/>
        </p:spPr>
      </p:sp>
      <p:sp>
        <p:nvSpPr>
          <p:cNvPr id="12" name="Text 10"/>
          <p:cNvSpPr/>
          <p:nvPr/>
        </p:nvSpPr>
        <p:spPr>
          <a:xfrm>
            <a:off x="6473952" y="2432304"/>
            <a:ext cx="566928" cy="566928"/>
          </a:xfrm>
          <a:prstGeom prst="rect">
            <a:avLst/>
          </a:prstGeom>
          <a:noFill/>
          <a:ln/>
        </p:spPr>
        <p:txBody>
          <a:bodyPr wrap="square" lIns="0" tIns="0" rIns="0" bIns="0" rtlCol="0" anchor="ctr"/>
          <a:lstStyle/>
          <a:p>
            <a:pPr algn="ctr" indent="0" marL="0">
              <a:buNone/>
            </a:pPr>
            <a:r>
              <a:rPr lang="en-US" sz="2200" b="1" dirty="0">
                <a:solidFill>
                  <a:srgbClr val="F2A33C"/>
                </a:solidFill>
                <a:latin typeface="Georgia" pitchFamily="34" charset="0"/>
                <a:ea typeface="Georgia" pitchFamily="34" charset="-122"/>
                <a:cs typeface="Georgia" pitchFamily="34" charset="-120"/>
              </a:rPr>
              <a:t>1</a:t>
            </a:r>
            <a:endParaRPr lang="en-US" sz="2200" dirty="0"/>
          </a:p>
        </p:txBody>
      </p:sp>
      <p:sp>
        <p:nvSpPr>
          <p:cNvPr id="13" name="Text 11"/>
          <p:cNvSpPr/>
          <p:nvPr/>
        </p:nvSpPr>
        <p:spPr>
          <a:xfrm>
            <a:off x="7178040" y="2395728"/>
            <a:ext cx="4206240" cy="329184"/>
          </a:xfrm>
          <a:prstGeom prst="rect">
            <a:avLst/>
          </a:prstGeom>
          <a:noFill/>
          <a:ln/>
        </p:spPr>
        <p:txBody>
          <a:bodyPr wrap="square" lIns="0" tIns="0" rIns="0" bIns="0" rtlCol="0" anchor="ctr"/>
          <a:lstStyle/>
          <a:p>
            <a:pPr indent="0" marL="0">
              <a:buNone/>
            </a:pPr>
            <a:r>
              <a:rPr lang="en-US" sz="1600" b="1" dirty="0">
                <a:solidFill>
                  <a:srgbClr val="1A2738"/>
                </a:solidFill>
                <a:latin typeface="Georgia" pitchFamily="34" charset="0"/>
                <a:ea typeface="Georgia" pitchFamily="34" charset="-122"/>
                <a:cs typeface="Georgia" pitchFamily="34" charset="-120"/>
              </a:rPr>
              <a:t>Outbound</a:t>
            </a:r>
            <a:endParaRPr lang="en-US" sz="1600" dirty="0"/>
          </a:p>
        </p:txBody>
      </p:sp>
      <p:sp>
        <p:nvSpPr>
          <p:cNvPr id="14" name="Text 12"/>
          <p:cNvSpPr/>
          <p:nvPr/>
        </p:nvSpPr>
        <p:spPr>
          <a:xfrm>
            <a:off x="7178040" y="2724912"/>
            <a:ext cx="4160520" cy="548640"/>
          </a:xfrm>
          <a:prstGeom prst="rect">
            <a:avLst/>
          </a:prstGeom>
          <a:noFill/>
          <a:ln/>
        </p:spPr>
        <p:txBody>
          <a:bodyPr wrap="square" lIns="0" tIns="0" rIns="0" bIns="0" rtlCol="0" anchor="ctr"/>
          <a:lstStyle/>
          <a:p>
            <a:pPr indent="0" marL="0">
              <a:lnSpc>
                <a:spcPct val="100000"/>
              </a:lnSpc>
              <a:buNone/>
            </a:pPr>
            <a:r>
              <a:rPr lang="en-US" sz="1200" dirty="0">
                <a:solidFill>
                  <a:srgbClr val="5C6B7E"/>
                </a:solidFill>
                <a:latin typeface="Calibri" pitchFamily="34" charset="0"/>
                <a:ea typeface="Calibri" pitchFamily="34" charset="-122"/>
                <a:cs typeface="Calibri" pitchFamily="34" charset="-120"/>
              </a:rPr>
              <a:t>“The number one thing to do first.” Build the engine to reach buyers on purpose.</a:t>
            </a:r>
            <a:endParaRPr lang="en-US" sz="1200" dirty="0"/>
          </a:p>
        </p:txBody>
      </p:sp>
      <p:sp>
        <p:nvSpPr>
          <p:cNvPr id="15" name="Shape 13"/>
          <p:cNvSpPr/>
          <p:nvPr/>
        </p:nvSpPr>
        <p:spPr>
          <a:xfrm>
            <a:off x="6473952" y="3419856"/>
            <a:ext cx="566928" cy="566928"/>
          </a:xfrm>
          <a:prstGeom prst="ellipse">
            <a:avLst/>
          </a:prstGeom>
          <a:solidFill>
            <a:srgbClr val="0E1A2B"/>
          </a:solidFill>
          <a:ln/>
        </p:spPr>
      </p:sp>
      <p:sp>
        <p:nvSpPr>
          <p:cNvPr id="16" name="Text 14"/>
          <p:cNvSpPr/>
          <p:nvPr/>
        </p:nvSpPr>
        <p:spPr>
          <a:xfrm>
            <a:off x="6473952" y="3419856"/>
            <a:ext cx="566928" cy="566928"/>
          </a:xfrm>
          <a:prstGeom prst="rect">
            <a:avLst/>
          </a:prstGeom>
          <a:noFill/>
          <a:ln/>
        </p:spPr>
        <p:txBody>
          <a:bodyPr wrap="square" lIns="0" tIns="0" rIns="0" bIns="0" rtlCol="0" anchor="ctr"/>
          <a:lstStyle/>
          <a:p>
            <a:pPr algn="ctr" indent="0" marL="0">
              <a:buNone/>
            </a:pPr>
            <a:r>
              <a:rPr lang="en-US" sz="2200" b="1" dirty="0">
                <a:solidFill>
                  <a:srgbClr val="F2A33C"/>
                </a:solidFill>
                <a:latin typeface="Georgia" pitchFamily="34" charset="0"/>
                <a:ea typeface="Georgia" pitchFamily="34" charset="-122"/>
                <a:cs typeface="Georgia" pitchFamily="34" charset="-120"/>
              </a:rPr>
              <a:t>2</a:t>
            </a:r>
            <a:endParaRPr lang="en-US" sz="2200" dirty="0"/>
          </a:p>
        </p:txBody>
      </p:sp>
      <p:sp>
        <p:nvSpPr>
          <p:cNvPr id="17" name="Text 15"/>
          <p:cNvSpPr/>
          <p:nvPr/>
        </p:nvSpPr>
        <p:spPr>
          <a:xfrm>
            <a:off x="7178040" y="3383280"/>
            <a:ext cx="4206240" cy="329184"/>
          </a:xfrm>
          <a:prstGeom prst="rect">
            <a:avLst/>
          </a:prstGeom>
          <a:noFill/>
          <a:ln/>
        </p:spPr>
        <p:txBody>
          <a:bodyPr wrap="square" lIns="0" tIns="0" rIns="0" bIns="0" rtlCol="0" anchor="ctr"/>
          <a:lstStyle/>
          <a:p>
            <a:pPr indent="0" marL="0">
              <a:buNone/>
            </a:pPr>
            <a:r>
              <a:rPr lang="en-US" sz="1600" b="1" dirty="0">
                <a:solidFill>
                  <a:srgbClr val="1A2738"/>
                </a:solidFill>
                <a:latin typeface="Georgia" pitchFamily="34" charset="0"/>
                <a:ea typeface="Georgia" pitchFamily="34" charset="-122"/>
                <a:cs typeface="Georgia" pitchFamily="34" charset="-120"/>
              </a:rPr>
              <a:t>Content</a:t>
            </a:r>
            <a:endParaRPr lang="en-US" sz="1600" dirty="0"/>
          </a:p>
        </p:txBody>
      </p:sp>
      <p:sp>
        <p:nvSpPr>
          <p:cNvPr id="18" name="Text 16"/>
          <p:cNvSpPr/>
          <p:nvPr/>
        </p:nvSpPr>
        <p:spPr>
          <a:xfrm>
            <a:off x="7178040" y="3712464"/>
            <a:ext cx="4160520" cy="548640"/>
          </a:xfrm>
          <a:prstGeom prst="rect">
            <a:avLst/>
          </a:prstGeom>
          <a:noFill/>
          <a:ln/>
        </p:spPr>
        <p:txBody>
          <a:bodyPr wrap="square" lIns="0" tIns="0" rIns="0" bIns="0" rtlCol="0" anchor="ctr"/>
          <a:lstStyle/>
          <a:p>
            <a:pPr indent="0" marL="0">
              <a:lnSpc>
                <a:spcPct val="100000"/>
              </a:lnSpc>
              <a:buNone/>
            </a:pPr>
            <a:r>
              <a:rPr lang="en-US" sz="1200" dirty="0">
                <a:solidFill>
                  <a:srgbClr val="5C6B7E"/>
                </a:solidFill>
                <a:latin typeface="Calibri" pitchFamily="34" charset="0"/>
                <a:ea typeface="Calibri" pitchFamily="34" charset="-122"/>
                <a:cs typeface="Calibri" pitchFamily="34" charset="-120"/>
              </a:rPr>
              <a:t>Turn published research and case studies into demand fuel and authority.</a:t>
            </a:r>
            <a:endParaRPr lang="en-US" sz="1200" dirty="0"/>
          </a:p>
        </p:txBody>
      </p:sp>
      <p:sp>
        <p:nvSpPr>
          <p:cNvPr id="19" name="Shape 17"/>
          <p:cNvSpPr/>
          <p:nvPr/>
        </p:nvSpPr>
        <p:spPr>
          <a:xfrm>
            <a:off x="6473952" y="4407408"/>
            <a:ext cx="566928" cy="566928"/>
          </a:xfrm>
          <a:prstGeom prst="ellipse">
            <a:avLst/>
          </a:prstGeom>
          <a:solidFill>
            <a:srgbClr val="0E1A2B"/>
          </a:solidFill>
          <a:ln/>
        </p:spPr>
      </p:sp>
      <p:sp>
        <p:nvSpPr>
          <p:cNvPr id="20" name="Text 18"/>
          <p:cNvSpPr/>
          <p:nvPr/>
        </p:nvSpPr>
        <p:spPr>
          <a:xfrm>
            <a:off x="6473952" y="4407408"/>
            <a:ext cx="566928" cy="566928"/>
          </a:xfrm>
          <a:prstGeom prst="rect">
            <a:avLst/>
          </a:prstGeom>
          <a:noFill/>
          <a:ln/>
        </p:spPr>
        <p:txBody>
          <a:bodyPr wrap="square" lIns="0" tIns="0" rIns="0" bIns="0" rtlCol="0" anchor="ctr"/>
          <a:lstStyle/>
          <a:p>
            <a:pPr algn="ctr" indent="0" marL="0">
              <a:buNone/>
            </a:pPr>
            <a:r>
              <a:rPr lang="en-US" sz="2200" b="1" dirty="0">
                <a:solidFill>
                  <a:srgbClr val="F2A33C"/>
                </a:solidFill>
                <a:latin typeface="Georgia" pitchFamily="34" charset="0"/>
                <a:ea typeface="Georgia" pitchFamily="34" charset="-122"/>
                <a:cs typeface="Georgia" pitchFamily="34" charset="-120"/>
              </a:rPr>
              <a:t>3</a:t>
            </a:r>
            <a:endParaRPr lang="en-US" sz="2200" dirty="0"/>
          </a:p>
        </p:txBody>
      </p:sp>
      <p:sp>
        <p:nvSpPr>
          <p:cNvPr id="21" name="Text 19"/>
          <p:cNvSpPr/>
          <p:nvPr/>
        </p:nvSpPr>
        <p:spPr>
          <a:xfrm>
            <a:off x="7178040" y="4370832"/>
            <a:ext cx="4206240" cy="329184"/>
          </a:xfrm>
          <a:prstGeom prst="rect">
            <a:avLst/>
          </a:prstGeom>
          <a:noFill/>
          <a:ln/>
        </p:spPr>
        <p:txBody>
          <a:bodyPr wrap="square" lIns="0" tIns="0" rIns="0" bIns="0" rtlCol="0" anchor="ctr"/>
          <a:lstStyle/>
          <a:p>
            <a:pPr indent="0" marL="0">
              <a:buNone/>
            </a:pPr>
            <a:r>
              <a:rPr lang="en-US" sz="1600" b="1" dirty="0">
                <a:solidFill>
                  <a:srgbClr val="1A2738"/>
                </a:solidFill>
                <a:latin typeface="Georgia" pitchFamily="34" charset="0"/>
                <a:ea typeface="Georgia" pitchFamily="34" charset="-122"/>
                <a:cs typeface="Georgia" pitchFamily="34" charset="-120"/>
              </a:rPr>
              <a:t>Website</a:t>
            </a:r>
            <a:endParaRPr lang="en-US" sz="1600" dirty="0"/>
          </a:p>
        </p:txBody>
      </p:sp>
      <p:sp>
        <p:nvSpPr>
          <p:cNvPr id="22" name="Text 20"/>
          <p:cNvSpPr/>
          <p:nvPr/>
        </p:nvSpPr>
        <p:spPr>
          <a:xfrm>
            <a:off x="7178040" y="4700016"/>
            <a:ext cx="4160520" cy="548640"/>
          </a:xfrm>
          <a:prstGeom prst="rect">
            <a:avLst/>
          </a:prstGeom>
          <a:noFill/>
          <a:ln/>
        </p:spPr>
        <p:txBody>
          <a:bodyPr wrap="square" lIns="0" tIns="0" rIns="0" bIns="0" rtlCol="0" anchor="ctr"/>
          <a:lstStyle/>
          <a:p>
            <a:pPr indent="0" marL="0">
              <a:lnSpc>
                <a:spcPct val="100000"/>
              </a:lnSpc>
              <a:buNone/>
            </a:pPr>
            <a:r>
              <a:rPr lang="en-US" sz="1200" dirty="0">
                <a:solidFill>
                  <a:srgbClr val="5C6B7E"/>
                </a:solidFill>
                <a:latin typeface="Calibri" pitchFamily="34" charset="0"/>
                <a:ea typeface="Calibri" pitchFamily="34" charset="-122"/>
                <a:cs typeface="Calibri" pitchFamily="34" charset="-120"/>
              </a:rPr>
              <a:t>“Our site doesn't tell people what we do.” Rebuild to convert, run in parallel.</a:t>
            </a:r>
            <a:endParaRPr lang="en-US" sz="1200" dirty="0"/>
          </a:p>
        </p:txBody>
      </p:sp>
      <p:sp>
        <p:nvSpPr>
          <p:cNvPr id="23" name="Text 21"/>
          <p:cNvSpPr/>
          <p:nvPr/>
        </p:nvSpPr>
        <p:spPr>
          <a:xfrm>
            <a:off x="640080" y="5623560"/>
            <a:ext cx="10908792" cy="502920"/>
          </a:xfrm>
          <a:prstGeom prst="rect">
            <a:avLst/>
          </a:prstGeom>
          <a:noFill/>
          <a:ln/>
        </p:spPr>
        <p:txBody>
          <a:bodyPr wrap="square" lIns="0" tIns="0" rIns="0" bIns="0" rtlCol="0" anchor="ctr"/>
          <a:lstStyle/>
          <a:p>
            <a:pPr algn="ctr" indent="0" marL="0">
              <a:buNone/>
            </a:pPr>
            <a:r>
              <a:rPr lang="en-US" sz="1350" b="1" dirty="0">
                <a:solidFill>
                  <a:srgbClr val="E8852B"/>
                </a:solidFill>
                <a:latin typeface="Calibri" pitchFamily="34" charset="0"/>
                <a:ea typeface="Calibri" pitchFamily="34" charset="-122"/>
                <a:cs typeface="Calibri" pitchFamily="34" charset="-120"/>
              </a:rPr>
              <a:t>Our read:  </a:t>
            </a:r>
            <a:pPr algn="ctr" indent="0" marL="0">
              <a:buNone/>
            </a:pPr>
            <a:r>
              <a:rPr lang="en-US" sz="1350" dirty="0">
                <a:solidFill>
                  <a:srgbClr val="1A2738"/>
                </a:solidFill>
                <a:latin typeface="Calibri" pitchFamily="34" charset="0"/>
                <a:ea typeface="Calibri" pitchFamily="34" charset="-122"/>
                <a:cs typeface="Calibri" pitchFamily="34" charset="-120"/>
              </a:rPr>
              <a:t>lead with outbound to create signal fast, rebuild the storefront in parallel, and let proof-led content compound behind both.</a:t>
            </a:r>
            <a:endParaRPr lang="en-US" sz="1350" dirty="0"/>
          </a:p>
        </p:txBody>
      </p:sp>
      <p:sp>
        <p:nvSpPr>
          <p:cNvPr id="24" name="Text 22"/>
          <p:cNvSpPr/>
          <p:nvPr/>
        </p:nvSpPr>
        <p:spPr>
          <a:xfrm>
            <a:off x="640080" y="6419088"/>
            <a:ext cx="8229600" cy="274320"/>
          </a:xfrm>
          <a:prstGeom prst="rect">
            <a:avLst/>
          </a:prstGeom>
          <a:noFill/>
          <a:ln/>
        </p:spPr>
        <p:txBody>
          <a:bodyPr wrap="square" lIns="0" tIns="0" rIns="0" bIns="0" rtlCol="0" anchor="ctr"/>
          <a:lstStyle/>
          <a:p>
            <a:pPr indent="0" marL="0">
              <a:buNone/>
            </a:pPr>
            <a:r>
              <a:rPr lang="en-US" sz="900" b="1" dirty="0">
                <a:solidFill>
                  <a:srgbClr val="1A2738"/>
                </a:solidFill>
                <a:latin typeface="Calibri" pitchFamily="34" charset="0"/>
                <a:ea typeface="Calibri" pitchFamily="34" charset="-122"/>
                <a:cs typeface="Calibri" pitchFamily="34" charset="-120"/>
              </a:rPr>
              <a:t>EmberTribe</a:t>
            </a:r>
            <a:pPr indent="0" marL="0">
              <a:buNone/>
            </a:pPr>
            <a:r>
              <a:rPr lang="en-US" sz="900" dirty="0">
                <a:solidFill>
                  <a:srgbClr val="5C6B7E"/>
                </a:solidFill>
                <a:latin typeface="Calibri" pitchFamily="34" charset="0"/>
                <a:ea typeface="Calibri" pitchFamily="34" charset="-122"/>
                <a:cs typeface="Calibri" pitchFamily="34" charset="-120"/>
              </a:rPr>
              <a:t>   ·   Confidential   ·   Prepared for Blank Slate Technologies</a:t>
            </a:r>
            <a:endParaRPr lang="en-US" sz="900" dirty="0"/>
          </a:p>
        </p:txBody>
      </p:sp>
      <p:sp>
        <p:nvSpPr>
          <p:cNvPr id="25" name="Text 23"/>
          <p:cNvSpPr/>
          <p:nvPr/>
        </p:nvSpPr>
        <p:spPr>
          <a:xfrm>
            <a:off x="11338560" y="6419088"/>
            <a:ext cx="457200" cy="274320"/>
          </a:xfrm>
          <a:prstGeom prst="rect">
            <a:avLst/>
          </a:prstGeom>
          <a:noFill/>
          <a:ln/>
        </p:spPr>
        <p:txBody>
          <a:bodyPr wrap="square" lIns="0" tIns="0" rIns="0" bIns="0"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852B"/>
          </a:solidFill>
          <a:ln/>
        </p:spPr>
      </p:sp>
      <p:sp>
        <p:nvSpPr>
          <p:cNvPr id="3" name="Text 1"/>
          <p:cNvSpPr/>
          <p:nvPr/>
        </p:nvSpPr>
        <p:spPr>
          <a:xfrm>
            <a:off x="822960" y="82296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THE STRATEGY</a:t>
            </a:r>
            <a:endParaRPr lang="en-US" sz="1200" dirty="0"/>
          </a:p>
        </p:txBody>
      </p:sp>
      <p:sp>
        <p:nvSpPr>
          <p:cNvPr id="4" name="Text 2"/>
          <p:cNvSpPr/>
          <p:nvPr/>
        </p:nvSpPr>
        <p:spPr>
          <a:xfrm>
            <a:off x="777240" y="1143000"/>
            <a:ext cx="10607040" cy="173736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Georgia" pitchFamily="34" charset="0"/>
                <a:ea typeface="Georgia" pitchFamily="34" charset="-122"/>
                <a:cs typeface="Georgia" pitchFamily="34" charset="-120"/>
              </a:rPr>
              <a:t>Manufacture demand.</a:t>
            </a:r>
            <a:endParaRPr lang="en-US" sz="4600" dirty="0"/>
          </a:p>
          <a:p>
            <a:pPr indent="0" marL="0">
              <a:lnSpc>
                <a:spcPct val="100000"/>
              </a:lnSpc>
              <a:buNone/>
            </a:pPr>
            <a:r>
              <a:rPr lang="en-US" sz="4600" b="1" dirty="0">
                <a:solidFill>
                  <a:srgbClr val="FFFFFF"/>
                </a:solidFill>
                <a:latin typeface="Georgia" pitchFamily="34" charset="0"/>
                <a:ea typeface="Georgia" pitchFamily="34" charset="-122"/>
                <a:cs typeface="Georgia" pitchFamily="34" charset="-120"/>
              </a:rPr>
              <a:t>Don't wait for it.</a:t>
            </a:r>
            <a:endParaRPr lang="en-US" sz="4600" dirty="0"/>
          </a:p>
        </p:txBody>
      </p:sp>
      <p:sp>
        <p:nvSpPr>
          <p:cNvPr id="5" name="Text 3"/>
          <p:cNvSpPr/>
          <p:nvPr/>
        </p:nvSpPr>
        <p:spPr>
          <a:xfrm>
            <a:off x="822960" y="2971800"/>
            <a:ext cx="9692640" cy="914400"/>
          </a:xfrm>
          <a:prstGeom prst="rect">
            <a:avLst/>
          </a:prstGeom>
          <a:noFill/>
          <a:ln/>
        </p:spPr>
        <p:txBody>
          <a:bodyPr wrap="square" lIns="0" tIns="0" rIns="0" bIns="0" rtlCol="0" anchor="ctr"/>
          <a:lstStyle/>
          <a:p>
            <a:pPr indent="0" marL="0">
              <a:lnSpc>
                <a:spcPct val="110000"/>
              </a:lnSpc>
              <a:buNone/>
            </a:pPr>
            <a:r>
              <a:rPr lang="en-US" sz="1600" dirty="0">
                <a:solidFill>
                  <a:srgbClr val="DCE7F5"/>
                </a:solidFill>
                <a:latin typeface="Calibri" pitchFamily="34" charset="0"/>
                <a:ea typeface="Calibri" pitchFamily="34" charset="-122"/>
                <a:cs typeface="Calibri" pitchFamily="34" charset="-120"/>
              </a:rPr>
              <a:t>Blank Slate already wins when it gets in the room. The job is to engineer more rooms, predictably and across verticals, while making sure every new visitor instantly understands the value and converts.</a:t>
            </a:r>
            <a:endParaRPr lang="en-US" sz="1600" dirty="0"/>
          </a:p>
        </p:txBody>
      </p:sp>
      <p:sp>
        <p:nvSpPr>
          <p:cNvPr id="6" name="Shape 4"/>
          <p:cNvSpPr/>
          <p:nvPr/>
        </p:nvSpPr>
        <p:spPr>
          <a:xfrm>
            <a:off x="822960" y="4297680"/>
            <a:ext cx="3383280" cy="1874520"/>
          </a:xfrm>
          <a:prstGeom prst="rect">
            <a:avLst/>
          </a:prstGeom>
          <a:solidFill>
            <a:srgbClr val="16273D"/>
          </a:solidFill>
          <a:ln w="12700">
            <a:solidFill>
              <a:srgbClr val="24384F"/>
            </a:solidFill>
            <a:prstDash val="solid"/>
          </a:ln>
        </p:spPr>
      </p:sp>
      <p:sp>
        <p:nvSpPr>
          <p:cNvPr id="7" name="Shape 5"/>
          <p:cNvSpPr/>
          <p:nvPr/>
        </p:nvSpPr>
        <p:spPr>
          <a:xfrm>
            <a:off x="822960" y="4297680"/>
            <a:ext cx="3383280" cy="82296"/>
          </a:xfrm>
          <a:prstGeom prst="rect">
            <a:avLst/>
          </a:prstGeom>
          <a:solidFill>
            <a:srgbClr val="E8852B"/>
          </a:solidFill>
          <a:ln/>
        </p:spPr>
      </p:sp>
      <p:sp>
        <p:nvSpPr>
          <p:cNvPr id="8" name="Text 6"/>
          <p:cNvSpPr/>
          <p:nvPr/>
        </p:nvSpPr>
        <p:spPr>
          <a:xfrm>
            <a:off x="1078992" y="4498848"/>
            <a:ext cx="914400" cy="365760"/>
          </a:xfrm>
          <a:prstGeom prst="rect">
            <a:avLst/>
          </a:prstGeom>
          <a:noFill/>
          <a:ln/>
        </p:spPr>
        <p:txBody>
          <a:bodyPr wrap="square" lIns="0" tIns="0" rIns="0" bIns="0" rtlCol="0" anchor="ctr"/>
          <a:lstStyle/>
          <a:p>
            <a:pPr indent="0" marL="0">
              <a:buNone/>
            </a:pPr>
            <a:r>
              <a:rPr lang="en-US" sz="1500" b="1" dirty="0">
                <a:solidFill>
                  <a:srgbClr val="F2A33C"/>
                </a:solidFill>
                <a:latin typeface="Georgia" pitchFamily="34" charset="0"/>
                <a:ea typeface="Georgia" pitchFamily="34" charset="-122"/>
                <a:cs typeface="Georgia" pitchFamily="34" charset="-120"/>
              </a:rPr>
              <a:t>01</a:t>
            </a:r>
            <a:endParaRPr lang="en-US" sz="1500" dirty="0"/>
          </a:p>
        </p:txBody>
      </p:sp>
      <p:sp>
        <p:nvSpPr>
          <p:cNvPr id="9" name="Text 7"/>
          <p:cNvSpPr/>
          <p:nvPr/>
        </p:nvSpPr>
        <p:spPr>
          <a:xfrm>
            <a:off x="1078992" y="4828032"/>
            <a:ext cx="2834640"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Reach</a:t>
            </a:r>
            <a:endParaRPr lang="en-US" sz="2000" dirty="0"/>
          </a:p>
        </p:txBody>
      </p:sp>
      <p:sp>
        <p:nvSpPr>
          <p:cNvPr id="10" name="Text 8"/>
          <p:cNvSpPr/>
          <p:nvPr/>
        </p:nvSpPr>
        <p:spPr>
          <a:xfrm>
            <a:off x="1078992" y="5230368"/>
            <a:ext cx="2926080" cy="868680"/>
          </a:xfrm>
          <a:prstGeom prst="rect">
            <a:avLst/>
          </a:prstGeom>
          <a:noFill/>
          <a:ln/>
        </p:spPr>
        <p:txBody>
          <a:bodyPr wrap="square" lIns="0" tIns="0" rIns="0" bIns="0" rtlCol="0" anchor="ctr"/>
          <a:lstStyle/>
          <a:p>
            <a:pPr indent="0" marL="0">
              <a:lnSpc>
                <a:spcPct val="105000"/>
              </a:lnSpc>
              <a:buNone/>
            </a:pPr>
            <a:r>
              <a:rPr lang="en-US" sz="1250" dirty="0">
                <a:solidFill>
                  <a:srgbClr val="93A7C0"/>
                </a:solidFill>
                <a:latin typeface="Calibri" pitchFamily="34" charset="0"/>
                <a:ea typeface="Calibri" pitchFamily="34" charset="-122"/>
                <a:cs typeface="Calibri" pitchFamily="34" charset="-120"/>
              </a:rPr>
              <a:t>An outbound engine that puts the right offer in front of the right buyer, at scale, without six SDRs.</a:t>
            </a:r>
            <a:endParaRPr lang="en-US" sz="1250" dirty="0"/>
          </a:p>
        </p:txBody>
      </p:sp>
      <p:sp>
        <p:nvSpPr>
          <p:cNvPr id="11" name="Shape 9"/>
          <p:cNvSpPr/>
          <p:nvPr/>
        </p:nvSpPr>
        <p:spPr>
          <a:xfrm>
            <a:off x="4434840" y="4297680"/>
            <a:ext cx="3383280" cy="1874520"/>
          </a:xfrm>
          <a:prstGeom prst="rect">
            <a:avLst/>
          </a:prstGeom>
          <a:solidFill>
            <a:srgbClr val="16273D"/>
          </a:solidFill>
          <a:ln w="12700">
            <a:solidFill>
              <a:srgbClr val="24384F"/>
            </a:solidFill>
            <a:prstDash val="solid"/>
          </a:ln>
        </p:spPr>
      </p:sp>
      <p:sp>
        <p:nvSpPr>
          <p:cNvPr id="12" name="Shape 10"/>
          <p:cNvSpPr/>
          <p:nvPr/>
        </p:nvSpPr>
        <p:spPr>
          <a:xfrm>
            <a:off x="4434840" y="4297680"/>
            <a:ext cx="3383280" cy="82296"/>
          </a:xfrm>
          <a:prstGeom prst="rect">
            <a:avLst/>
          </a:prstGeom>
          <a:solidFill>
            <a:srgbClr val="E8852B"/>
          </a:solidFill>
          <a:ln/>
        </p:spPr>
      </p:sp>
      <p:sp>
        <p:nvSpPr>
          <p:cNvPr id="13" name="Text 11"/>
          <p:cNvSpPr/>
          <p:nvPr/>
        </p:nvSpPr>
        <p:spPr>
          <a:xfrm>
            <a:off x="4690872" y="4498848"/>
            <a:ext cx="914400" cy="365760"/>
          </a:xfrm>
          <a:prstGeom prst="rect">
            <a:avLst/>
          </a:prstGeom>
          <a:noFill/>
          <a:ln/>
        </p:spPr>
        <p:txBody>
          <a:bodyPr wrap="square" lIns="0" tIns="0" rIns="0" bIns="0" rtlCol="0" anchor="ctr"/>
          <a:lstStyle/>
          <a:p>
            <a:pPr indent="0" marL="0">
              <a:buNone/>
            </a:pPr>
            <a:r>
              <a:rPr lang="en-US" sz="1500" b="1" dirty="0">
                <a:solidFill>
                  <a:srgbClr val="F2A33C"/>
                </a:solidFill>
                <a:latin typeface="Georgia" pitchFamily="34" charset="0"/>
                <a:ea typeface="Georgia" pitchFamily="34" charset="-122"/>
                <a:cs typeface="Georgia" pitchFamily="34" charset="-120"/>
              </a:rPr>
              <a:t>02</a:t>
            </a:r>
            <a:endParaRPr lang="en-US" sz="1500" dirty="0"/>
          </a:p>
        </p:txBody>
      </p:sp>
      <p:sp>
        <p:nvSpPr>
          <p:cNvPr id="14" name="Text 12"/>
          <p:cNvSpPr/>
          <p:nvPr/>
        </p:nvSpPr>
        <p:spPr>
          <a:xfrm>
            <a:off x="4690872" y="4828032"/>
            <a:ext cx="2834640"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Convert</a:t>
            </a:r>
            <a:endParaRPr lang="en-US" sz="2000" dirty="0"/>
          </a:p>
        </p:txBody>
      </p:sp>
      <p:sp>
        <p:nvSpPr>
          <p:cNvPr id="15" name="Text 13"/>
          <p:cNvSpPr/>
          <p:nvPr/>
        </p:nvSpPr>
        <p:spPr>
          <a:xfrm>
            <a:off x="4690872" y="5230368"/>
            <a:ext cx="2926080" cy="868680"/>
          </a:xfrm>
          <a:prstGeom prst="rect">
            <a:avLst/>
          </a:prstGeom>
          <a:noFill/>
          <a:ln/>
        </p:spPr>
        <p:txBody>
          <a:bodyPr wrap="square" lIns="0" tIns="0" rIns="0" bIns="0" rtlCol="0" anchor="ctr"/>
          <a:lstStyle/>
          <a:p>
            <a:pPr indent="0" marL="0">
              <a:lnSpc>
                <a:spcPct val="105000"/>
              </a:lnSpc>
              <a:buNone/>
            </a:pPr>
            <a:r>
              <a:rPr lang="en-US" sz="1250" dirty="0">
                <a:solidFill>
                  <a:srgbClr val="93A7C0"/>
                </a:solidFill>
                <a:latin typeface="Calibri" pitchFamily="34" charset="0"/>
                <a:ea typeface="Calibri" pitchFamily="34" charset="-122"/>
                <a:cs typeface="Calibri" pitchFamily="34" charset="-120"/>
              </a:rPr>
              <a:t>A storefront (website + landing pages) built to communicate clearly and capture every lead.</a:t>
            </a:r>
            <a:endParaRPr lang="en-US" sz="1250" dirty="0"/>
          </a:p>
        </p:txBody>
      </p:sp>
      <p:sp>
        <p:nvSpPr>
          <p:cNvPr id="16" name="Shape 14"/>
          <p:cNvSpPr/>
          <p:nvPr/>
        </p:nvSpPr>
        <p:spPr>
          <a:xfrm>
            <a:off x="8046720" y="4297680"/>
            <a:ext cx="3383280" cy="1874520"/>
          </a:xfrm>
          <a:prstGeom prst="rect">
            <a:avLst/>
          </a:prstGeom>
          <a:solidFill>
            <a:srgbClr val="16273D"/>
          </a:solidFill>
          <a:ln w="12700">
            <a:solidFill>
              <a:srgbClr val="24384F"/>
            </a:solidFill>
            <a:prstDash val="solid"/>
          </a:ln>
        </p:spPr>
      </p:sp>
      <p:sp>
        <p:nvSpPr>
          <p:cNvPr id="17" name="Shape 15"/>
          <p:cNvSpPr/>
          <p:nvPr/>
        </p:nvSpPr>
        <p:spPr>
          <a:xfrm>
            <a:off x="8046720" y="4297680"/>
            <a:ext cx="3383280" cy="82296"/>
          </a:xfrm>
          <a:prstGeom prst="rect">
            <a:avLst/>
          </a:prstGeom>
          <a:solidFill>
            <a:srgbClr val="E8852B"/>
          </a:solidFill>
          <a:ln/>
        </p:spPr>
      </p:sp>
      <p:sp>
        <p:nvSpPr>
          <p:cNvPr id="18" name="Text 16"/>
          <p:cNvSpPr/>
          <p:nvPr/>
        </p:nvSpPr>
        <p:spPr>
          <a:xfrm>
            <a:off x="8302752" y="4498848"/>
            <a:ext cx="914400" cy="365760"/>
          </a:xfrm>
          <a:prstGeom prst="rect">
            <a:avLst/>
          </a:prstGeom>
          <a:noFill/>
          <a:ln/>
        </p:spPr>
        <p:txBody>
          <a:bodyPr wrap="square" lIns="0" tIns="0" rIns="0" bIns="0" rtlCol="0" anchor="ctr"/>
          <a:lstStyle/>
          <a:p>
            <a:pPr indent="0" marL="0">
              <a:buNone/>
            </a:pPr>
            <a:r>
              <a:rPr lang="en-US" sz="1500" b="1" dirty="0">
                <a:solidFill>
                  <a:srgbClr val="F2A33C"/>
                </a:solidFill>
                <a:latin typeface="Georgia" pitchFamily="34" charset="0"/>
                <a:ea typeface="Georgia" pitchFamily="34" charset="-122"/>
                <a:cs typeface="Georgia" pitchFamily="34" charset="-120"/>
              </a:rPr>
              <a:t>03</a:t>
            </a:r>
            <a:endParaRPr lang="en-US" sz="1500" dirty="0"/>
          </a:p>
        </p:txBody>
      </p:sp>
      <p:sp>
        <p:nvSpPr>
          <p:cNvPr id="19" name="Text 17"/>
          <p:cNvSpPr/>
          <p:nvPr/>
        </p:nvSpPr>
        <p:spPr>
          <a:xfrm>
            <a:off x="8302752" y="4828032"/>
            <a:ext cx="2834640"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Compound</a:t>
            </a:r>
            <a:endParaRPr lang="en-US" sz="2000" dirty="0"/>
          </a:p>
        </p:txBody>
      </p:sp>
      <p:sp>
        <p:nvSpPr>
          <p:cNvPr id="20" name="Text 18"/>
          <p:cNvSpPr/>
          <p:nvPr/>
        </p:nvSpPr>
        <p:spPr>
          <a:xfrm>
            <a:off x="8302752" y="5230368"/>
            <a:ext cx="2926080" cy="868680"/>
          </a:xfrm>
          <a:prstGeom prst="rect">
            <a:avLst/>
          </a:prstGeom>
          <a:noFill/>
          <a:ln/>
        </p:spPr>
        <p:txBody>
          <a:bodyPr wrap="square" lIns="0" tIns="0" rIns="0" bIns="0" rtlCol="0" anchor="ctr"/>
          <a:lstStyle/>
          <a:p>
            <a:pPr indent="0" marL="0">
              <a:lnSpc>
                <a:spcPct val="105000"/>
              </a:lnSpc>
              <a:buNone/>
            </a:pPr>
            <a:r>
              <a:rPr lang="en-US" sz="1250" dirty="0">
                <a:solidFill>
                  <a:srgbClr val="93A7C0"/>
                </a:solidFill>
                <a:latin typeface="Calibri" pitchFamily="34" charset="0"/>
                <a:ea typeface="Calibri" pitchFamily="34" charset="-122"/>
                <a:cs typeface="Calibri" pitchFamily="34" charset="-120"/>
              </a:rPr>
              <a:t>Proof-led content and founder authority that make every channel work harder over time.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THE ENGINE</a:t>
            </a:r>
            <a:endParaRPr lang="en-US" sz="1200" dirty="0"/>
          </a:p>
        </p:txBody>
      </p:sp>
      <p:sp>
        <p:nvSpPr>
          <p:cNvPr id="3" name="Text 1"/>
          <p:cNvSpPr/>
          <p:nvPr/>
        </p:nvSpPr>
        <p:spPr>
          <a:xfrm>
            <a:off x="640080" y="777240"/>
            <a:ext cx="10972800" cy="640080"/>
          </a:xfrm>
          <a:prstGeom prst="rect">
            <a:avLst/>
          </a:prstGeom>
          <a:noFill/>
          <a:ln/>
        </p:spPr>
        <p:txBody>
          <a:bodyPr wrap="square" lIns="0" tIns="0" rIns="0" bIns="0" rtlCol="0" anchor="ctr"/>
          <a:lstStyle/>
          <a:p>
            <a:pPr indent="0" marL="0">
              <a:buNone/>
            </a:pPr>
            <a:r>
              <a:rPr lang="en-US" sz="2800" b="1" dirty="0">
                <a:solidFill>
                  <a:srgbClr val="1A2738"/>
                </a:solidFill>
                <a:latin typeface="Georgia" pitchFamily="34" charset="0"/>
                <a:ea typeface="Georgia" pitchFamily="34" charset="-122"/>
                <a:cs typeface="Georgia" pitchFamily="34" charset="-120"/>
              </a:rPr>
              <a:t>Three pillars, sequenced to fund each other</a:t>
            </a:r>
            <a:endParaRPr lang="en-US" sz="2800" dirty="0"/>
          </a:p>
        </p:txBody>
      </p:sp>
      <p:sp>
        <p:nvSpPr>
          <p:cNvPr id="4" name="Shape 2"/>
          <p:cNvSpPr/>
          <p:nvPr/>
        </p:nvSpPr>
        <p:spPr>
          <a:xfrm>
            <a:off x="640080" y="1645920"/>
            <a:ext cx="3511296" cy="448056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5" name="Shape 3"/>
          <p:cNvSpPr/>
          <p:nvPr/>
        </p:nvSpPr>
        <p:spPr>
          <a:xfrm>
            <a:off x="640080" y="1645920"/>
            <a:ext cx="3511296" cy="1078992"/>
          </a:xfrm>
          <a:prstGeom prst="rect">
            <a:avLst/>
          </a:prstGeom>
          <a:solidFill>
            <a:srgbClr val="0E1A2B"/>
          </a:solidFill>
          <a:ln/>
        </p:spPr>
      </p:sp>
      <p:sp>
        <p:nvSpPr>
          <p:cNvPr id="6" name="Shape 4"/>
          <p:cNvSpPr/>
          <p:nvPr/>
        </p:nvSpPr>
        <p:spPr>
          <a:xfrm>
            <a:off x="932688" y="1828800"/>
            <a:ext cx="713232" cy="713232"/>
          </a:xfrm>
          <a:prstGeom prst="ellipse">
            <a:avLst/>
          </a:prstGeom>
          <a:solidFill>
            <a:srgbClr val="E8852B"/>
          </a:solidFill>
          <a:ln/>
        </p:spPr>
      </p:sp>
      <p:pic>
        <p:nvPicPr>
          <p:cNvPr id="7" name="Image 0" descr="preencoded.png">    </p:cNvPr>
          <p:cNvPicPr>
            <a:picLocks noChangeAspect="1"/>
          </p:cNvPicPr>
          <p:nvPr/>
        </p:nvPicPr>
        <p:blipFill>
          <a:blip r:embed="rId1"/>
          <a:stretch>
            <a:fillRect/>
          </a:stretch>
        </p:blipFill>
        <p:spPr>
          <a:xfrm>
            <a:off x="1106424" y="2002536"/>
            <a:ext cx="365760" cy="365760"/>
          </a:xfrm>
          <a:prstGeom prst="rect">
            <a:avLst/>
          </a:prstGeom>
        </p:spPr>
      </p:pic>
      <p:sp>
        <p:nvSpPr>
          <p:cNvPr id="8" name="Text 5"/>
          <p:cNvSpPr/>
          <p:nvPr/>
        </p:nvSpPr>
        <p:spPr>
          <a:xfrm>
            <a:off x="1783080" y="1883664"/>
            <a:ext cx="2231136" cy="274320"/>
          </a:xfrm>
          <a:prstGeom prst="rect">
            <a:avLst/>
          </a:prstGeom>
          <a:noFill/>
          <a:ln/>
        </p:spPr>
        <p:txBody>
          <a:bodyPr wrap="square" lIns="0" tIns="0" rIns="0" bIns="0" rtlCol="0" anchor="ctr"/>
          <a:lstStyle/>
          <a:p>
            <a:pPr indent="0" marL="0">
              <a:buNone/>
            </a:pPr>
            <a:r>
              <a:rPr lang="en-US" sz="1000" b="1" spc="200" kern="0" dirty="0">
                <a:solidFill>
                  <a:srgbClr val="F2A33C"/>
                </a:solidFill>
                <a:latin typeface="Calibri" pitchFamily="34" charset="0"/>
                <a:ea typeface="Calibri" pitchFamily="34" charset="-122"/>
                <a:cs typeface="Calibri" pitchFamily="34" charset="-120"/>
              </a:rPr>
              <a:t>LEAD CHANNEL</a:t>
            </a:r>
            <a:endParaRPr lang="en-US" sz="1000" dirty="0"/>
          </a:p>
        </p:txBody>
      </p:sp>
      <p:sp>
        <p:nvSpPr>
          <p:cNvPr id="9" name="Text 6"/>
          <p:cNvSpPr/>
          <p:nvPr/>
        </p:nvSpPr>
        <p:spPr>
          <a:xfrm>
            <a:off x="1783080" y="2139696"/>
            <a:ext cx="2231136"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Outbound Engine</a:t>
            </a:r>
            <a:endParaRPr lang="en-US" sz="1900" dirty="0"/>
          </a:p>
        </p:txBody>
      </p:sp>
      <p:sp>
        <p:nvSpPr>
          <p:cNvPr id="10" name="Text 7"/>
          <p:cNvSpPr/>
          <p:nvPr/>
        </p:nvSpPr>
        <p:spPr>
          <a:xfrm>
            <a:off x="950976" y="2999232"/>
            <a:ext cx="2907792" cy="2926080"/>
          </a:xfrm>
          <a:prstGeom prst="rect">
            <a:avLst/>
          </a:prstGeom>
          <a:noFill/>
          <a:ln/>
        </p:spPr>
        <p:txBody>
          <a:bodyPr wrap="square" lIns="0" tIns="0" rIns="0" bIns="0" rtlCol="0" anchor="ctr"/>
          <a:lstStyle/>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Tight ICP lists by vertical (VP Training / Safety / Compliance / Ops)</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Multi-touch sequences: email + LinkedIn + call, run in-house</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“Knowledge-Gap Audit” as the low-friction entry offer</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CRM + attribution stood up so every reply is measured</a:t>
            </a:r>
            <a:endParaRPr lang="en-US" sz="1200" dirty="0"/>
          </a:p>
        </p:txBody>
      </p:sp>
      <p:sp>
        <p:nvSpPr>
          <p:cNvPr id="11" name="Shape 8"/>
          <p:cNvSpPr/>
          <p:nvPr/>
        </p:nvSpPr>
        <p:spPr>
          <a:xfrm>
            <a:off x="4434840" y="1645920"/>
            <a:ext cx="3511296" cy="448056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2" name="Shape 9"/>
          <p:cNvSpPr/>
          <p:nvPr/>
        </p:nvSpPr>
        <p:spPr>
          <a:xfrm>
            <a:off x="4434840" y="1645920"/>
            <a:ext cx="3511296" cy="1078992"/>
          </a:xfrm>
          <a:prstGeom prst="rect">
            <a:avLst/>
          </a:prstGeom>
          <a:solidFill>
            <a:srgbClr val="0E1A2B"/>
          </a:solidFill>
          <a:ln/>
        </p:spPr>
      </p:sp>
      <p:sp>
        <p:nvSpPr>
          <p:cNvPr id="13" name="Shape 10"/>
          <p:cNvSpPr/>
          <p:nvPr/>
        </p:nvSpPr>
        <p:spPr>
          <a:xfrm>
            <a:off x="4727448" y="1828800"/>
            <a:ext cx="713232" cy="713232"/>
          </a:xfrm>
          <a:prstGeom prst="ellipse">
            <a:avLst/>
          </a:prstGeom>
          <a:solidFill>
            <a:srgbClr val="E8852B"/>
          </a:solidFill>
          <a:ln/>
        </p:spPr>
      </p:sp>
      <p:pic>
        <p:nvPicPr>
          <p:cNvPr id="14" name="Image 1" descr="preencoded.png">    </p:cNvPr>
          <p:cNvPicPr>
            <a:picLocks noChangeAspect="1"/>
          </p:cNvPicPr>
          <p:nvPr/>
        </p:nvPicPr>
        <p:blipFill>
          <a:blip r:embed="rId2"/>
          <a:stretch>
            <a:fillRect/>
          </a:stretch>
        </p:blipFill>
        <p:spPr>
          <a:xfrm>
            <a:off x="4901184" y="2002536"/>
            <a:ext cx="365760" cy="365760"/>
          </a:xfrm>
          <a:prstGeom prst="rect">
            <a:avLst/>
          </a:prstGeom>
        </p:spPr>
      </p:pic>
      <p:sp>
        <p:nvSpPr>
          <p:cNvPr id="15" name="Text 11"/>
          <p:cNvSpPr/>
          <p:nvPr/>
        </p:nvSpPr>
        <p:spPr>
          <a:xfrm>
            <a:off x="5577840" y="1883664"/>
            <a:ext cx="2231136" cy="274320"/>
          </a:xfrm>
          <a:prstGeom prst="rect">
            <a:avLst/>
          </a:prstGeom>
          <a:noFill/>
          <a:ln/>
        </p:spPr>
        <p:txBody>
          <a:bodyPr wrap="square" lIns="0" tIns="0" rIns="0" bIns="0" rtlCol="0" anchor="ctr"/>
          <a:lstStyle/>
          <a:p>
            <a:pPr indent="0" marL="0">
              <a:buNone/>
            </a:pPr>
            <a:r>
              <a:rPr lang="en-US" sz="1000" b="1" spc="200" kern="0" dirty="0">
                <a:solidFill>
                  <a:srgbClr val="F2A33C"/>
                </a:solidFill>
                <a:latin typeface="Calibri" pitchFamily="34" charset="0"/>
                <a:ea typeface="Calibri" pitchFamily="34" charset="-122"/>
                <a:cs typeface="Calibri" pitchFamily="34" charset="-120"/>
              </a:rPr>
              <a:t>CONVERSION</a:t>
            </a:r>
            <a:endParaRPr lang="en-US" sz="1000" dirty="0"/>
          </a:p>
        </p:txBody>
      </p:sp>
      <p:sp>
        <p:nvSpPr>
          <p:cNvPr id="16" name="Text 12"/>
          <p:cNvSpPr/>
          <p:nvPr/>
        </p:nvSpPr>
        <p:spPr>
          <a:xfrm>
            <a:off x="5577840" y="2139696"/>
            <a:ext cx="2231136"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The Storefront</a:t>
            </a:r>
            <a:endParaRPr lang="en-US" sz="1900" dirty="0"/>
          </a:p>
        </p:txBody>
      </p:sp>
      <p:sp>
        <p:nvSpPr>
          <p:cNvPr id="17" name="Text 13"/>
          <p:cNvSpPr/>
          <p:nvPr/>
        </p:nvSpPr>
        <p:spPr>
          <a:xfrm>
            <a:off x="4745736" y="2999232"/>
            <a:ext cx="2907792" cy="2926080"/>
          </a:xfrm>
          <a:prstGeom prst="rect">
            <a:avLst/>
          </a:prstGeom>
          <a:noFill/>
          <a:ln/>
        </p:spPr>
        <p:txBody>
          <a:bodyPr wrap="square" lIns="0" tIns="0" rIns="0" bIns="0" rtlCol="0" anchor="ctr"/>
          <a:lstStyle/>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Full website rebuild that clearly says who you serve and why</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Fast landing pages per vertical to test and capture</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Built to convert, with tracking wired in from day one</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Proof, not jargon: the credibility you already own, on display</a:t>
            </a:r>
            <a:endParaRPr lang="en-US" sz="1200" dirty="0"/>
          </a:p>
        </p:txBody>
      </p:sp>
      <p:sp>
        <p:nvSpPr>
          <p:cNvPr id="18" name="Shape 14"/>
          <p:cNvSpPr/>
          <p:nvPr/>
        </p:nvSpPr>
        <p:spPr>
          <a:xfrm>
            <a:off x="8229600" y="1645920"/>
            <a:ext cx="3511296" cy="448056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9" name="Shape 15"/>
          <p:cNvSpPr/>
          <p:nvPr/>
        </p:nvSpPr>
        <p:spPr>
          <a:xfrm>
            <a:off x="8229600" y="1645920"/>
            <a:ext cx="3511296" cy="1078992"/>
          </a:xfrm>
          <a:prstGeom prst="rect">
            <a:avLst/>
          </a:prstGeom>
          <a:solidFill>
            <a:srgbClr val="0E1A2B"/>
          </a:solidFill>
          <a:ln/>
        </p:spPr>
      </p:sp>
      <p:sp>
        <p:nvSpPr>
          <p:cNvPr id="20" name="Shape 16"/>
          <p:cNvSpPr/>
          <p:nvPr/>
        </p:nvSpPr>
        <p:spPr>
          <a:xfrm>
            <a:off x="8522208" y="1828800"/>
            <a:ext cx="713232" cy="713232"/>
          </a:xfrm>
          <a:prstGeom prst="ellipse">
            <a:avLst/>
          </a:prstGeom>
          <a:solidFill>
            <a:srgbClr val="E8852B"/>
          </a:solidFill>
          <a:ln/>
        </p:spPr>
      </p:sp>
      <p:pic>
        <p:nvPicPr>
          <p:cNvPr id="21" name="Image 2" descr="preencoded.png">    </p:cNvPr>
          <p:cNvPicPr>
            <a:picLocks noChangeAspect="1"/>
          </p:cNvPicPr>
          <p:nvPr/>
        </p:nvPicPr>
        <p:blipFill>
          <a:blip r:embed="rId3"/>
          <a:stretch>
            <a:fillRect/>
          </a:stretch>
        </p:blipFill>
        <p:spPr>
          <a:xfrm>
            <a:off x="8695944" y="2002536"/>
            <a:ext cx="365760" cy="365760"/>
          </a:xfrm>
          <a:prstGeom prst="rect">
            <a:avLst/>
          </a:prstGeom>
        </p:spPr>
      </p:pic>
      <p:sp>
        <p:nvSpPr>
          <p:cNvPr id="22" name="Text 17"/>
          <p:cNvSpPr/>
          <p:nvPr/>
        </p:nvSpPr>
        <p:spPr>
          <a:xfrm>
            <a:off x="9372600" y="1883664"/>
            <a:ext cx="2231136" cy="274320"/>
          </a:xfrm>
          <a:prstGeom prst="rect">
            <a:avLst/>
          </a:prstGeom>
          <a:noFill/>
          <a:ln/>
        </p:spPr>
        <p:txBody>
          <a:bodyPr wrap="square" lIns="0" tIns="0" rIns="0" bIns="0" rtlCol="0" anchor="ctr"/>
          <a:lstStyle/>
          <a:p>
            <a:pPr indent="0" marL="0">
              <a:buNone/>
            </a:pPr>
            <a:r>
              <a:rPr lang="en-US" sz="1000" b="1" spc="200" kern="0" dirty="0">
                <a:solidFill>
                  <a:srgbClr val="F2A33C"/>
                </a:solidFill>
                <a:latin typeface="Calibri" pitchFamily="34" charset="0"/>
                <a:ea typeface="Calibri" pitchFamily="34" charset="-122"/>
                <a:cs typeface="Calibri" pitchFamily="34" charset="-120"/>
              </a:rPr>
              <a:t>AUTHORITY</a:t>
            </a:r>
            <a:endParaRPr lang="en-US" sz="1000" dirty="0"/>
          </a:p>
        </p:txBody>
      </p:sp>
      <p:sp>
        <p:nvSpPr>
          <p:cNvPr id="23" name="Text 18"/>
          <p:cNvSpPr/>
          <p:nvPr/>
        </p:nvSpPr>
        <p:spPr>
          <a:xfrm>
            <a:off x="9372600" y="2139696"/>
            <a:ext cx="2231136"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Proof &amp; Brand</a:t>
            </a:r>
            <a:endParaRPr lang="en-US" sz="1900" dirty="0"/>
          </a:p>
        </p:txBody>
      </p:sp>
      <p:sp>
        <p:nvSpPr>
          <p:cNvPr id="24" name="Text 19"/>
          <p:cNvSpPr/>
          <p:nvPr/>
        </p:nvSpPr>
        <p:spPr>
          <a:xfrm>
            <a:off x="8540496" y="2999232"/>
            <a:ext cx="2907792" cy="2926080"/>
          </a:xfrm>
          <a:prstGeom prst="rect">
            <a:avLst/>
          </a:prstGeom>
          <a:noFill/>
          <a:ln/>
        </p:spPr>
        <p:txBody>
          <a:bodyPr wrap="square" lIns="0" tIns="0" rIns="0" bIns="0" rtlCol="0" anchor="ctr"/>
          <a:lstStyle/>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Repackage USAF &amp; Mass General results into gated case studies</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Founder + CRO thought leadership on LinkedIn</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Own the “cognitive readiness / zero-fail” category (SEO + AEO)</a:t>
            </a:r>
            <a:endParaRPr lang="en-US" sz="1200" dirty="0"/>
          </a:p>
          <a:p>
            <a:pPr marL="177800" indent="-177800">
              <a:lnSpc>
                <a:spcPct val="100000"/>
              </a:lnSpc>
              <a:spcAft>
                <a:spcPts val="1000"/>
              </a:spcAft>
              <a:buSzPct val="100000"/>
              <a:buChar char="•"/>
            </a:pPr>
            <a:r>
              <a:rPr lang="en-US" sz="1200" dirty="0">
                <a:solidFill>
                  <a:srgbClr val="1A2738"/>
                </a:solidFill>
                <a:latin typeface="Calibri" pitchFamily="34" charset="0"/>
                <a:ea typeface="Calibri" pitchFamily="34" charset="-122"/>
                <a:cs typeface="Calibri" pitchFamily="34" charset="-120"/>
              </a:rPr>
              <a:t>Batch-produced content from one on-site capture day</a:t>
            </a:r>
            <a:endParaRPr lang="en-US" sz="1200" dirty="0"/>
          </a:p>
        </p:txBody>
      </p:sp>
      <p:sp>
        <p:nvSpPr>
          <p:cNvPr id="25" name="Text 20"/>
          <p:cNvSpPr/>
          <p:nvPr/>
        </p:nvSpPr>
        <p:spPr>
          <a:xfrm>
            <a:off x="640080" y="6419088"/>
            <a:ext cx="8229600" cy="274320"/>
          </a:xfrm>
          <a:prstGeom prst="rect">
            <a:avLst/>
          </a:prstGeom>
          <a:noFill/>
          <a:ln/>
        </p:spPr>
        <p:txBody>
          <a:bodyPr wrap="square" lIns="0" tIns="0" rIns="0" bIns="0" rtlCol="0" anchor="ctr"/>
          <a:lstStyle/>
          <a:p>
            <a:pPr indent="0" marL="0">
              <a:buNone/>
            </a:pPr>
            <a:r>
              <a:rPr lang="en-US" sz="900" b="1" dirty="0">
                <a:solidFill>
                  <a:srgbClr val="1A2738"/>
                </a:solidFill>
                <a:latin typeface="Calibri" pitchFamily="34" charset="0"/>
                <a:ea typeface="Calibri" pitchFamily="34" charset="-122"/>
                <a:cs typeface="Calibri" pitchFamily="34" charset="-120"/>
              </a:rPr>
              <a:t>EmberTribe</a:t>
            </a:r>
            <a:pPr indent="0" marL="0">
              <a:buNone/>
            </a:pPr>
            <a:r>
              <a:rPr lang="en-US" sz="900" dirty="0">
                <a:solidFill>
                  <a:srgbClr val="5C6B7E"/>
                </a:solidFill>
                <a:latin typeface="Calibri" pitchFamily="34" charset="0"/>
                <a:ea typeface="Calibri" pitchFamily="34" charset="-122"/>
                <a:cs typeface="Calibri" pitchFamily="34" charset="-120"/>
              </a:rPr>
              <a:t>   ·   Confidential   ·   Prepared for Blank Slate Technologies</a:t>
            </a:r>
            <a:endParaRPr lang="en-US" sz="900" dirty="0"/>
          </a:p>
        </p:txBody>
      </p:sp>
      <p:sp>
        <p:nvSpPr>
          <p:cNvPr id="26" name="Text 21"/>
          <p:cNvSpPr/>
          <p:nvPr/>
        </p:nvSpPr>
        <p:spPr>
          <a:xfrm>
            <a:off x="11338560" y="6419088"/>
            <a:ext cx="457200" cy="274320"/>
          </a:xfrm>
          <a:prstGeom prst="rect">
            <a:avLst/>
          </a:prstGeom>
          <a:noFill/>
          <a:ln/>
        </p:spPr>
        <p:txBody>
          <a:bodyPr wrap="square" lIns="0" tIns="0" rIns="0" bIns="0"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WHERE WE POINT IT FIRST</a:t>
            </a:r>
            <a:endParaRPr lang="en-US" sz="1200" dirty="0"/>
          </a:p>
        </p:txBody>
      </p:sp>
      <p:sp>
        <p:nvSpPr>
          <p:cNvPr id="3" name="Text 1"/>
          <p:cNvSpPr/>
          <p:nvPr/>
        </p:nvSpPr>
        <p:spPr>
          <a:xfrm>
            <a:off x="640080" y="777240"/>
            <a:ext cx="11155680" cy="640080"/>
          </a:xfrm>
          <a:prstGeom prst="rect">
            <a:avLst/>
          </a:prstGeom>
          <a:noFill/>
          <a:ln/>
        </p:spPr>
        <p:txBody>
          <a:bodyPr wrap="square" lIns="0" tIns="0" rIns="0" bIns="0" rtlCol="0" anchor="ctr"/>
          <a:lstStyle/>
          <a:p>
            <a:pPr indent="0" marL="0">
              <a:buNone/>
            </a:pPr>
            <a:r>
              <a:rPr lang="en-US" sz="2600" b="1" dirty="0">
                <a:solidFill>
                  <a:srgbClr val="1A2738"/>
                </a:solidFill>
                <a:latin typeface="Georgia" pitchFamily="34" charset="0"/>
                <a:ea typeface="Georgia" pitchFamily="34" charset="-122"/>
                <a:cs typeface="Georgia" pitchFamily="34" charset="-120"/>
              </a:rPr>
              <a:t>Cast lures across fast-moving verticals, then double down</a:t>
            </a:r>
            <a:endParaRPr lang="en-US" sz="2600" dirty="0"/>
          </a:p>
        </p:txBody>
      </p:sp>
      <p:sp>
        <p:nvSpPr>
          <p:cNvPr id="4" name="Shape 2"/>
          <p:cNvSpPr/>
          <p:nvPr/>
        </p:nvSpPr>
        <p:spPr>
          <a:xfrm>
            <a:off x="640080" y="1645920"/>
            <a:ext cx="3511296" cy="246888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pic>
        <p:nvPicPr>
          <p:cNvPr id="5" name="Image 0" descr="preencoded.png">    </p:cNvPr>
          <p:cNvPicPr>
            <a:picLocks noChangeAspect="1"/>
          </p:cNvPicPr>
          <p:nvPr/>
        </p:nvPicPr>
        <p:blipFill>
          <a:blip r:embed="rId1"/>
          <a:stretch>
            <a:fillRect/>
          </a:stretch>
        </p:blipFill>
        <p:spPr>
          <a:xfrm>
            <a:off x="950976" y="1938528"/>
            <a:ext cx="457200" cy="457200"/>
          </a:xfrm>
          <a:prstGeom prst="rect">
            <a:avLst/>
          </a:prstGeom>
        </p:spPr>
      </p:pic>
      <p:sp>
        <p:nvSpPr>
          <p:cNvPr id="6" name="Text 3"/>
          <p:cNvSpPr/>
          <p:nvPr/>
        </p:nvSpPr>
        <p:spPr>
          <a:xfrm>
            <a:off x="950976" y="2542032"/>
            <a:ext cx="2889504" cy="566928"/>
          </a:xfrm>
          <a:prstGeom prst="rect">
            <a:avLst/>
          </a:prstGeom>
          <a:noFill/>
          <a:ln/>
        </p:spPr>
        <p:txBody>
          <a:bodyPr wrap="square" lIns="0" tIns="0" rIns="0" bIns="0" rtlCol="0" anchor="ctr"/>
          <a:lstStyle/>
          <a:p>
            <a:pPr indent="0" marL="0">
              <a:buNone/>
            </a:pPr>
            <a:r>
              <a:rPr lang="en-US" sz="1550" b="1" dirty="0">
                <a:solidFill>
                  <a:srgbClr val="1A2738"/>
                </a:solidFill>
                <a:latin typeface="Georgia" pitchFamily="34" charset="0"/>
                <a:ea typeface="Georgia" pitchFamily="34" charset="-122"/>
                <a:cs typeface="Georgia" pitchFamily="34" charset="-120"/>
              </a:rPr>
              <a:t>Private security &amp; contractors</a:t>
            </a:r>
            <a:endParaRPr lang="en-US" sz="1550" dirty="0"/>
          </a:p>
        </p:txBody>
      </p:sp>
      <p:sp>
        <p:nvSpPr>
          <p:cNvPr id="7" name="Text 4"/>
          <p:cNvSpPr/>
          <p:nvPr/>
        </p:nvSpPr>
        <p:spPr>
          <a:xfrm>
            <a:off x="950976" y="3127248"/>
            <a:ext cx="2889504" cy="868680"/>
          </a:xfrm>
          <a:prstGeom prst="rect">
            <a:avLst/>
          </a:prstGeom>
          <a:noFill/>
          <a:ln/>
        </p:spPr>
        <p:txBody>
          <a:bodyPr wrap="square" lIns="0" tIns="0" rIns="0" bIns="0" rtlCol="0" anchor="ctr"/>
          <a:lstStyle/>
          <a:p>
            <a:pPr indent="0" marL="0">
              <a:lnSpc>
                <a:spcPct val="105000"/>
              </a:lnSpc>
              <a:buNone/>
            </a:pPr>
            <a:r>
              <a:rPr lang="en-US" sz="1200" dirty="0">
                <a:solidFill>
                  <a:srgbClr val="5C6B7E"/>
                </a:solidFill>
                <a:latin typeface="Calibri" pitchFamily="34" charset="0"/>
                <a:ea typeface="Calibri" pitchFamily="34" charset="-122"/>
                <a:cs typeface="Calibri" pitchFamily="34" charset="-120"/>
              </a:rPr>
              <a:t>VP Compliance / Operations. High turnover means constant retraining, and budgets that move far faster than government.</a:t>
            </a:r>
            <a:endParaRPr lang="en-US" sz="1200" dirty="0"/>
          </a:p>
        </p:txBody>
      </p:sp>
      <p:sp>
        <p:nvSpPr>
          <p:cNvPr id="8" name="Shape 5"/>
          <p:cNvSpPr/>
          <p:nvPr/>
        </p:nvSpPr>
        <p:spPr>
          <a:xfrm>
            <a:off x="4434840" y="1645920"/>
            <a:ext cx="3511296" cy="246888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pic>
        <p:nvPicPr>
          <p:cNvPr id="9" name="Image 1" descr="preencoded.png">    </p:cNvPr>
          <p:cNvPicPr>
            <a:picLocks noChangeAspect="1"/>
          </p:cNvPicPr>
          <p:nvPr/>
        </p:nvPicPr>
        <p:blipFill>
          <a:blip r:embed="rId2"/>
          <a:stretch>
            <a:fillRect/>
          </a:stretch>
        </p:blipFill>
        <p:spPr>
          <a:xfrm>
            <a:off x="4745736" y="1938528"/>
            <a:ext cx="457200" cy="457200"/>
          </a:xfrm>
          <a:prstGeom prst="rect">
            <a:avLst/>
          </a:prstGeom>
        </p:spPr>
      </p:pic>
      <p:sp>
        <p:nvSpPr>
          <p:cNvPr id="10" name="Text 6"/>
          <p:cNvSpPr/>
          <p:nvPr/>
        </p:nvSpPr>
        <p:spPr>
          <a:xfrm>
            <a:off x="4745736" y="2542032"/>
            <a:ext cx="2889504" cy="566928"/>
          </a:xfrm>
          <a:prstGeom prst="rect">
            <a:avLst/>
          </a:prstGeom>
          <a:noFill/>
          <a:ln/>
        </p:spPr>
        <p:txBody>
          <a:bodyPr wrap="square" lIns="0" tIns="0" rIns="0" bIns="0" rtlCol="0" anchor="ctr"/>
          <a:lstStyle/>
          <a:p>
            <a:pPr indent="0" marL="0">
              <a:buNone/>
            </a:pPr>
            <a:r>
              <a:rPr lang="en-US" sz="1550" b="1" dirty="0">
                <a:solidFill>
                  <a:srgbClr val="1A2738"/>
                </a:solidFill>
                <a:latin typeface="Georgia" pitchFamily="34" charset="0"/>
                <a:ea typeface="Georgia" pitchFamily="34" charset="-122"/>
                <a:cs typeface="Georgia" pitchFamily="34" charset="-120"/>
              </a:rPr>
              <a:t>Healthcare L&amp;D</a:t>
            </a:r>
            <a:endParaRPr lang="en-US" sz="1550" dirty="0"/>
          </a:p>
        </p:txBody>
      </p:sp>
      <p:sp>
        <p:nvSpPr>
          <p:cNvPr id="11" name="Text 7"/>
          <p:cNvSpPr/>
          <p:nvPr/>
        </p:nvSpPr>
        <p:spPr>
          <a:xfrm>
            <a:off x="4745736" y="3127248"/>
            <a:ext cx="2889504" cy="868680"/>
          </a:xfrm>
          <a:prstGeom prst="rect">
            <a:avLst/>
          </a:prstGeom>
          <a:noFill/>
          <a:ln/>
        </p:spPr>
        <p:txBody>
          <a:bodyPr wrap="square" lIns="0" tIns="0" rIns="0" bIns="0" rtlCol="0" anchor="ctr"/>
          <a:lstStyle/>
          <a:p>
            <a:pPr indent="0" marL="0">
              <a:lnSpc>
                <a:spcPct val="105000"/>
              </a:lnSpc>
              <a:buNone/>
            </a:pPr>
            <a:r>
              <a:rPr lang="en-US" sz="1200" dirty="0">
                <a:solidFill>
                  <a:srgbClr val="5C6B7E"/>
                </a:solidFill>
                <a:latin typeface="Calibri" pitchFamily="34" charset="0"/>
                <a:ea typeface="Calibri" pitchFamily="34" charset="-122"/>
                <a:cs typeface="Calibri" pitchFamily="34" charset="-120"/>
              </a:rPr>
              <a:t>VP Training / Safety. Mass General study cut patient falls, a clean, quantifiable risk-and-liability story.</a:t>
            </a:r>
            <a:endParaRPr lang="en-US" sz="1200" dirty="0"/>
          </a:p>
        </p:txBody>
      </p:sp>
      <p:sp>
        <p:nvSpPr>
          <p:cNvPr id="12" name="Shape 8"/>
          <p:cNvSpPr/>
          <p:nvPr/>
        </p:nvSpPr>
        <p:spPr>
          <a:xfrm>
            <a:off x="8229600" y="1645920"/>
            <a:ext cx="3511296" cy="246888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pic>
        <p:nvPicPr>
          <p:cNvPr id="13" name="Image 2" descr="preencoded.png">    </p:cNvPr>
          <p:cNvPicPr>
            <a:picLocks noChangeAspect="1"/>
          </p:cNvPicPr>
          <p:nvPr/>
        </p:nvPicPr>
        <p:blipFill>
          <a:blip r:embed="rId3"/>
          <a:stretch>
            <a:fillRect/>
          </a:stretch>
        </p:blipFill>
        <p:spPr>
          <a:xfrm>
            <a:off x="8540496" y="1938528"/>
            <a:ext cx="457200" cy="457200"/>
          </a:xfrm>
          <a:prstGeom prst="rect">
            <a:avLst/>
          </a:prstGeom>
        </p:spPr>
      </p:pic>
      <p:sp>
        <p:nvSpPr>
          <p:cNvPr id="14" name="Text 9"/>
          <p:cNvSpPr/>
          <p:nvPr/>
        </p:nvSpPr>
        <p:spPr>
          <a:xfrm>
            <a:off x="8540496" y="2542032"/>
            <a:ext cx="2889504" cy="566928"/>
          </a:xfrm>
          <a:prstGeom prst="rect">
            <a:avLst/>
          </a:prstGeom>
          <a:noFill/>
          <a:ln/>
        </p:spPr>
        <p:txBody>
          <a:bodyPr wrap="square" lIns="0" tIns="0" rIns="0" bIns="0" rtlCol="0" anchor="ctr"/>
          <a:lstStyle/>
          <a:p>
            <a:pPr indent="0" marL="0">
              <a:buNone/>
            </a:pPr>
            <a:r>
              <a:rPr lang="en-US" sz="1550" b="1" dirty="0">
                <a:solidFill>
                  <a:srgbClr val="1A2738"/>
                </a:solidFill>
                <a:latin typeface="Georgia" pitchFamily="34" charset="0"/>
                <a:ea typeface="Georgia" pitchFamily="34" charset="-122"/>
                <a:cs typeface="Georgia" pitchFamily="34" charset="-120"/>
              </a:rPr>
              <a:t>Law enforcement &amp; first responders</a:t>
            </a:r>
            <a:endParaRPr lang="en-US" sz="1550" dirty="0"/>
          </a:p>
        </p:txBody>
      </p:sp>
      <p:sp>
        <p:nvSpPr>
          <p:cNvPr id="15" name="Text 10"/>
          <p:cNvSpPr/>
          <p:nvPr/>
        </p:nvSpPr>
        <p:spPr>
          <a:xfrm>
            <a:off x="8540496" y="3127248"/>
            <a:ext cx="2889504" cy="868680"/>
          </a:xfrm>
          <a:prstGeom prst="rect">
            <a:avLst/>
          </a:prstGeom>
          <a:noFill/>
          <a:ln/>
        </p:spPr>
        <p:txBody>
          <a:bodyPr wrap="square" lIns="0" tIns="0" rIns="0" bIns="0" rtlCol="0" anchor="ctr"/>
          <a:lstStyle/>
          <a:p>
            <a:pPr indent="0" marL="0">
              <a:lnSpc>
                <a:spcPct val="105000"/>
              </a:lnSpc>
              <a:buNone/>
            </a:pPr>
            <a:r>
              <a:rPr lang="en-US" sz="1200" dirty="0">
                <a:solidFill>
                  <a:srgbClr val="5C6B7E"/>
                </a:solidFill>
                <a:latin typeface="Calibri" pitchFamily="34" charset="0"/>
                <a:ea typeface="Calibri" pitchFamily="34" charset="-122"/>
                <a:cs typeface="Calibri" pitchFamily="34" charset="-120"/>
              </a:rPr>
              <a:t>Risk-reduction and accident-prevention buyers across police, fire and EMS. Zero-fail by definition.</a:t>
            </a:r>
            <a:endParaRPr lang="en-US" sz="1200" dirty="0"/>
          </a:p>
        </p:txBody>
      </p:sp>
      <p:sp>
        <p:nvSpPr>
          <p:cNvPr id="16" name="Shape 11"/>
          <p:cNvSpPr/>
          <p:nvPr/>
        </p:nvSpPr>
        <p:spPr>
          <a:xfrm>
            <a:off x="640080" y="4343400"/>
            <a:ext cx="7040880" cy="173736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7" name="Text 12"/>
          <p:cNvSpPr/>
          <p:nvPr/>
        </p:nvSpPr>
        <p:spPr>
          <a:xfrm>
            <a:off x="914400" y="4526280"/>
            <a:ext cx="6400800" cy="365760"/>
          </a:xfrm>
          <a:prstGeom prst="rect">
            <a:avLst/>
          </a:prstGeom>
          <a:noFill/>
          <a:ln/>
        </p:spPr>
        <p:txBody>
          <a:bodyPr wrap="square" lIns="0" tIns="0" rIns="0" bIns="0" rtlCol="0" anchor="ctr"/>
          <a:lstStyle/>
          <a:p>
            <a:pPr indent="0" marL="0">
              <a:buNone/>
            </a:pPr>
            <a:r>
              <a:rPr lang="en-US" sz="1500" b="1" dirty="0">
                <a:solidFill>
                  <a:srgbClr val="1A2738"/>
                </a:solidFill>
                <a:latin typeface="Georgia" pitchFamily="34" charset="0"/>
                <a:ea typeface="Georgia" pitchFamily="34" charset="-122"/>
                <a:cs typeface="Georgia" pitchFamily="34" charset="-120"/>
              </a:rPr>
              <a:t>How we keep it disciplined</a:t>
            </a:r>
            <a:endParaRPr lang="en-US" sz="1500" dirty="0"/>
          </a:p>
        </p:txBody>
      </p:sp>
      <p:sp>
        <p:nvSpPr>
          <p:cNvPr id="18" name="Text 13"/>
          <p:cNvSpPr/>
          <p:nvPr/>
        </p:nvSpPr>
        <p:spPr>
          <a:xfrm>
            <a:off x="914400" y="4937760"/>
            <a:ext cx="6492240" cy="1051560"/>
          </a:xfrm>
          <a:prstGeom prst="rect">
            <a:avLst/>
          </a:prstGeom>
          <a:noFill/>
          <a:ln/>
        </p:spPr>
        <p:txBody>
          <a:bodyPr wrap="square" lIns="0" tIns="0" rIns="0" bIns="0" rtlCol="0" anchor="ctr"/>
          <a:lstStyle/>
          <a:p>
            <a:pPr marL="177800" indent="-177800">
              <a:lnSpc>
                <a:spcPct val="100000"/>
              </a:lnSpc>
              <a:spcAft>
                <a:spcPts val="700"/>
              </a:spcAft>
              <a:buSzPct val="100000"/>
              <a:buChar char="•"/>
            </a:pPr>
            <a:r>
              <a:rPr lang="en-US" sz="1250" dirty="0">
                <a:solidFill>
                  <a:srgbClr val="1A2738"/>
                </a:solidFill>
                <a:latin typeface="Calibri" pitchFamily="34" charset="0"/>
                <a:ea typeface="Calibri" pitchFamily="34" charset="-122"/>
                <a:cs typeface="Calibri" pitchFamily="34" charset="-120"/>
              </a:rPr>
              <a:t>Run the same risk-reduction offer into 2–3 verticals at once.</a:t>
            </a:r>
            <a:endParaRPr lang="en-US" sz="1250" dirty="0"/>
          </a:p>
          <a:p>
            <a:pPr marL="177800" indent="-177800">
              <a:lnSpc>
                <a:spcPct val="100000"/>
              </a:lnSpc>
              <a:spcAft>
                <a:spcPts val="700"/>
              </a:spcAft>
              <a:buSzPct val="100000"/>
              <a:buChar char="•"/>
            </a:pPr>
            <a:r>
              <a:rPr lang="en-US" sz="1250" dirty="0">
                <a:solidFill>
                  <a:srgbClr val="1A2738"/>
                </a:solidFill>
                <a:latin typeface="Calibri" pitchFamily="34" charset="0"/>
                <a:ea typeface="Calibri" pitchFamily="34" charset="-122"/>
                <a:cs typeface="Calibri" pitchFamily="34" charset="-120"/>
              </a:rPr>
              <a:t>Measure reply and meeting rates by segment, message and title.</a:t>
            </a:r>
            <a:endParaRPr lang="en-US" sz="1250" dirty="0"/>
          </a:p>
          <a:p>
            <a:pPr marL="177800" indent="-177800">
              <a:lnSpc>
                <a:spcPct val="100000"/>
              </a:lnSpc>
              <a:buSzPct val="100000"/>
              <a:buChar char="•"/>
            </a:pPr>
            <a:r>
              <a:rPr lang="en-US" sz="1250" dirty="0">
                <a:solidFill>
                  <a:srgbClr val="1A2738"/>
                </a:solidFill>
                <a:latin typeface="Calibri" pitchFamily="34" charset="0"/>
                <a:ea typeface="Calibri" pitchFamily="34" charset="-122"/>
                <a:cs typeface="Calibri" pitchFamily="34" charset="-120"/>
              </a:rPr>
              <a:t>Cut what's quiet, pour budget into whoever responds, then expand.</a:t>
            </a:r>
            <a:endParaRPr lang="en-US" sz="1250" dirty="0"/>
          </a:p>
        </p:txBody>
      </p:sp>
      <p:sp>
        <p:nvSpPr>
          <p:cNvPr id="19" name="Shape 14"/>
          <p:cNvSpPr/>
          <p:nvPr/>
        </p:nvSpPr>
        <p:spPr>
          <a:xfrm>
            <a:off x="7882128" y="4343400"/>
            <a:ext cx="3666744" cy="1737360"/>
          </a:xfrm>
          <a:prstGeom prst="rect">
            <a:avLst/>
          </a:prstGeom>
          <a:solidFill>
            <a:srgbClr val="0E1A2B"/>
          </a:solidFill>
          <a:ln/>
        </p:spPr>
      </p:sp>
      <p:sp>
        <p:nvSpPr>
          <p:cNvPr id="20" name="Shape 15"/>
          <p:cNvSpPr/>
          <p:nvPr/>
        </p:nvSpPr>
        <p:spPr>
          <a:xfrm>
            <a:off x="7882128" y="4343400"/>
            <a:ext cx="109728" cy="1737360"/>
          </a:xfrm>
          <a:prstGeom prst="rect">
            <a:avLst/>
          </a:prstGeom>
          <a:solidFill>
            <a:srgbClr val="E8852B"/>
          </a:solidFill>
          <a:ln/>
        </p:spPr>
      </p:sp>
      <p:sp>
        <p:nvSpPr>
          <p:cNvPr id="21" name="Text 16"/>
          <p:cNvSpPr/>
          <p:nvPr/>
        </p:nvSpPr>
        <p:spPr>
          <a:xfrm>
            <a:off x="8183880" y="4553712"/>
            <a:ext cx="3246120" cy="548640"/>
          </a:xfrm>
          <a:prstGeom prst="rect">
            <a:avLst/>
          </a:prstGeom>
          <a:noFill/>
          <a:ln/>
        </p:spPr>
        <p:txBody>
          <a:bodyPr wrap="square" lIns="0" tIns="0" rIns="0" bIns="0"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Defense &amp; aviation stay the core</a:t>
            </a:r>
            <a:endParaRPr lang="en-US" sz="1450" dirty="0"/>
          </a:p>
        </p:txBody>
      </p:sp>
      <p:sp>
        <p:nvSpPr>
          <p:cNvPr id="22" name="Text 17"/>
          <p:cNvSpPr/>
          <p:nvPr/>
        </p:nvSpPr>
        <p:spPr>
          <a:xfrm>
            <a:off x="8183880" y="5138928"/>
            <a:ext cx="3200400" cy="868680"/>
          </a:xfrm>
          <a:prstGeom prst="rect">
            <a:avLst/>
          </a:prstGeom>
          <a:noFill/>
          <a:ln/>
        </p:spPr>
        <p:txBody>
          <a:bodyPr wrap="square" lIns="0" tIns="0" rIns="0" bIns="0" rtlCol="0" anchor="ctr"/>
          <a:lstStyle/>
          <a:p>
            <a:pPr indent="0" marL="0">
              <a:lnSpc>
                <a:spcPct val="105000"/>
              </a:lnSpc>
              <a:buNone/>
            </a:pPr>
            <a:r>
              <a:rPr lang="en-US" sz="1150" dirty="0">
                <a:solidFill>
                  <a:srgbClr val="DCE7F5"/>
                </a:solidFill>
                <a:latin typeface="Calibri" pitchFamily="34" charset="0"/>
                <a:ea typeface="Calibri" pitchFamily="34" charset="-122"/>
                <a:cs typeface="Calibri" pitchFamily="34" charset="-120"/>
              </a:rPr>
              <a:t>They keep feeding inbound on their own. These commercial tests are the new ground outbound is built to win.</a:t>
            </a:r>
            <a:endParaRPr lang="en-US" sz="1150" dirty="0"/>
          </a:p>
        </p:txBody>
      </p:sp>
      <p:sp>
        <p:nvSpPr>
          <p:cNvPr id="23" name="Text 18"/>
          <p:cNvSpPr/>
          <p:nvPr/>
        </p:nvSpPr>
        <p:spPr>
          <a:xfrm>
            <a:off x="640080" y="6419088"/>
            <a:ext cx="8229600" cy="274320"/>
          </a:xfrm>
          <a:prstGeom prst="rect">
            <a:avLst/>
          </a:prstGeom>
          <a:noFill/>
          <a:ln/>
        </p:spPr>
        <p:txBody>
          <a:bodyPr wrap="square" lIns="0" tIns="0" rIns="0" bIns="0" rtlCol="0" anchor="ctr"/>
          <a:lstStyle/>
          <a:p>
            <a:pPr indent="0" marL="0">
              <a:buNone/>
            </a:pPr>
            <a:r>
              <a:rPr lang="en-US" sz="900" b="1" dirty="0">
                <a:solidFill>
                  <a:srgbClr val="1A2738"/>
                </a:solidFill>
                <a:latin typeface="Calibri" pitchFamily="34" charset="0"/>
                <a:ea typeface="Calibri" pitchFamily="34" charset="-122"/>
                <a:cs typeface="Calibri" pitchFamily="34" charset="-120"/>
              </a:rPr>
              <a:t>EmberTribe</a:t>
            </a:r>
            <a:pPr indent="0" marL="0">
              <a:buNone/>
            </a:pPr>
            <a:r>
              <a:rPr lang="en-US" sz="900" dirty="0">
                <a:solidFill>
                  <a:srgbClr val="5C6B7E"/>
                </a:solidFill>
                <a:latin typeface="Calibri" pitchFamily="34" charset="0"/>
                <a:ea typeface="Calibri" pitchFamily="34" charset="-122"/>
                <a:cs typeface="Calibri" pitchFamily="34" charset="-120"/>
              </a:rPr>
              <a:t>   ·   Confidential   ·   Prepared for Blank Slate Technologies</a:t>
            </a:r>
            <a:endParaRPr lang="en-US" sz="900" dirty="0"/>
          </a:p>
        </p:txBody>
      </p:sp>
      <p:sp>
        <p:nvSpPr>
          <p:cNvPr id="24" name="Text 19"/>
          <p:cNvSpPr/>
          <p:nvPr/>
        </p:nvSpPr>
        <p:spPr>
          <a:xfrm>
            <a:off x="11338560" y="6419088"/>
            <a:ext cx="457200" cy="274320"/>
          </a:xfrm>
          <a:prstGeom prst="rect">
            <a:avLst/>
          </a:prstGeom>
          <a:noFill/>
          <a:ln/>
        </p:spPr>
        <p:txBody>
          <a:bodyPr wrap="square" lIns="0" tIns="0" rIns="0" bIns="0"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THE FIRST 90 DAYS</a:t>
            </a:r>
            <a:endParaRPr lang="en-US" sz="1200" dirty="0"/>
          </a:p>
        </p:txBody>
      </p:sp>
      <p:sp>
        <p:nvSpPr>
          <p:cNvPr id="3" name="Text 1"/>
          <p:cNvSpPr/>
          <p:nvPr/>
        </p:nvSpPr>
        <p:spPr>
          <a:xfrm>
            <a:off x="640080" y="777240"/>
            <a:ext cx="10972800" cy="640080"/>
          </a:xfrm>
          <a:prstGeom prst="rect">
            <a:avLst/>
          </a:prstGeom>
          <a:noFill/>
          <a:ln/>
        </p:spPr>
        <p:txBody>
          <a:bodyPr wrap="square" lIns="0" tIns="0" rIns="0" bIns="0" rtlCol="0" anchor="ctr"/>
          <a:lstStyle/>
          <a:p>
            <a:pPr indent="0" marL="0">
              <a:buNone/>
            </a:pPr>
            <a:r>
              <a:rPr lang="en-US" sz="2800" b="1" dirty="0">
                <a:solidFill>
                  <a:srgbClr val="1A2738"/>
                </a:solidFill>
                <a:latin typeface="Georgia" pitchFamily="34" charset="0"/>
                <a:ea typeface="Georgia" pitchFamily="34" charset="-122"/>
                <a:cs typeface="Georgia" pitchFamily="34" charset="-120"/>
              </a:rPr>
              <a:t>A phased plan built on outcomes, not deliverables</a:t>
            </a:r>
            <a:endParaRPr lang="en-US" sz="2800" dirty="0"/>
          </a:p>
        </p:txBody>
      </p:sp>
      <p:sp>
        <p:nvSpPr>
          <p:cNvPr id="4" name="Shape 2"/>
          <p:cNvSpPr/>
          <p:nvPr/>
        </p:nvSpPr>
        <p:spPr>
          <a:xfrm>
            <a:off x="640080" y="1691640"/>
            <a:ext cx="3511296" cy="434340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5" name="Shape 3"/>
          <p:cNvSpPr/>
          <p:nvPr/>
        </p:nvSpPr>
        <p:spPr>
          <a:xfrm>
            <a:off x="640080" y="1691640"/>
            <a:ext cx="3511296" cy="914400"/>
          </a:xfrm>
          <a:prstGeom prst="rect">
            <a:avLst/>
          </a:prstGeom>
          <a:solidFill>
            <a:srgbClr val="0E1A2B"/>
          </a:solidFill>
          <a:ln/>
        </p:spPr>
      </p:sp>
      <p:sp>
        <p:nvSpPr>
          <p:cNvPr id="6" name="Shape 4"/>
          <p:cNvSpPr/>
          <p:nvPr/>
        </p:nvSpPr>
        <p:spPr>
          <a:xfrm>
            <a:off x="640080" y="1691640"/>
            <a:ext cx="3511296" cy="82296"/>
          </a:xfrm>
          <a:prstGeom prst="rect">
            <a:avLst/>
          </a:prstGeom>
          <a:solidFill>
            <a:srgbClr val="E8852B"/>
          </a:solidFill>
          <a:ln/>
        </p:spPr>
      </p:sp>
      <p:sp>
        <p:nvSpPr>
          <p:cNvPr id="7" name="Text 5"/>
          <p:cNvSpPr/>
          <p:nvPr/>
        </p:nvSpPr>
        <p:spPr>
          <a:xfrm>
            <a:off x="950976" y="1828800"/>
            <a:ext cx="2962656" cy="274320"/>
          </a:xfrm>
          <a:prstGeom prst="rect">
            <a:avLst/>
          </a:prstGeom>
          <a:noFill/>
          <a:ln/>
        </p:spPr>
        <p:txBody>
          <a:bodyPr wrap="square" lIns="0" tIns="0" rIns="0" bIns="0" rtlCol="0" anchor="ctr"/>
          <a:lstStyle/>
          <a:p>
            <a:pPr indent="0" marL="0">
              <a:buNone/>
            </a:pPr>
            <a:r>
              <a:rPr lang="en-US" sz="1100" b="1" spc="200" kern="0" dirty="0">
                <a:solidFill>
                  <a:srgbClr val="F2A33C"/>
                </a:solidFill>
                <a:latin typeface="Calibri" pitchFamily="34" charset="0"/>
                <a:ea typeface="Calibri" pitchFamily="34" charset="-122"/>
                <a:cs typeface="Calibri" pitchFamily="34" charset="-120"/>
              </a:rPr>
              <a:t>DAYS 0–30</a:t>
            </a:r>
            <a:endParaRPr lang="en-US" sz="1100" dirty="0"/>
          </a:p>
        </p:txBody>
      </p:sp>
      <p:sp>
        <p:nvSpPr>
          <p:cNvPr id="8" name="Text 6"/>
          <p:cNvSpPr/>
          <p:nvPr/>
        </p:nvSpPr>
        <p:spPr>
          <a:xfrm>
            <a:off x="950976" y="2103120"/>
            <a:ext cx="2962656" cy="457200"/>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Foundation</a:t>
            </a:r>
            <a:endParaRPr lang="en-US" sz="2100" dirty="0"/>
          </a:p>
        </p:txBody>
      </p:sp>
      <p:sp>
        <p:nvSpPr>
          <p:cNvPr id="9" name="Text 7"/>
          <p:cNvSpPr/>
          <p:nvPr/>
        </p:nvSpPr>
        <p:spPr>
          <a:xfrm>
            <a:off x="950976" y="2852928"/>
            <a:ext cx="2907792" cy="3017520"/>
          </a:xfrm>
          <a:prstGeom prst="rect">
            <a:avLst/>
          </a:prstGeom>
          <a:noFill/>
          <a:ln/>
        </p:spPr>
        <p:txBody>
          <a:bodyPr wrap="square" lIns="0" tIns="0" rIns="0" bIns="0" rtlCol="0" anchor="ctr"/>
          <a:lstStyle/>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ICP defined + first target lists built</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CRM, outbound infra &amp; attribution stood up</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Messaging + category language sharpened</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USAF / Mass General proof repackaged</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Website rebuild kicked off</a:t>
            </a:r>
            <a:endParaRPr lang="en-US" sz="1250" dirty="0"/>
          </a:p>
        </p:txBody>
      </p:sp>
      <p:sp>
        <p:nvSpPr>
          <p:cNvPr id="10" name="Shape 8"/>
          <p:cNvSpPr/>
          <p:nvPr/>
        </p:nvSpPr>
        <p:spPr>
          <a:xfrm>
            <a:off x="4434840" y="1691640"/>
            <a:ext cx="3511296" cy="434340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1" name="Shape 9"/>
          <p:cNvSpPr/>
          <p:nvPr/>
        </p:nvSpPr>
        <p:spPr>
          <a:xfrm>
            <a:off x="4434840" y="1691640"/>
            <a:ext cx="3511296" cy="914400"/>
          </a:xfrm>
          <a:prstGeom prst="rect">
            <a:avLst/>
          </a:prstGeom>
          <a:solidFill>
            <a:srgbClr val="1E3350"/>
          </a:solidFill>
          <a:ln/>
        </p:spPr>
      </p:sp>
      <p:sp>
        <p:nvSpPr>
          <p:cNvPr id="12" name="Shape 10"/>
          <p:cNvSpPr/>
          <p:nvPr/>
        </p:nvSpPr>
        <p:spPr>
          <a:xfrm>
            <a:off x="4434840" y="1691640"/>
            <a:ext cx="3511296" cy="82296"/>
          </a:xfrm>
          <a:prstGeom prst="rect">
            <a:avLst/>
          </a:prstGeom>
          <a:solidFill>
            <a:srgbClr val="E8852B"/>
          </a:solidFill>
          <a:ln/>
        </p:spPr>
      </p:sp>
      <p:sp>
        <p:nvSpPr>
          <p:cNvPr id="13" name="Text 11"/>
          <p:cNvSpPr/>
          <p:nvPr/>
        </p:nvSpPr>
        <p:spPr>
          <a:xfrm>
            <a:off x="4745736" y="1828800"/>
            <a:ext cx="2962656" cy="274320"/>
          </a:xfrm>
          <a:prstGeom prst="rect">
            <a:avLst/>
          </a:prstGeom>
          <a:noFill/>
          <a:ln/>
        </p:spPr>
        <p:txBody>
          <a:bodyPr wrap="square" lIns="0" tIns="0" rIns="0" bIns="0" rtlCol="0" anchor="ctr"/>
          <a:lstStyle/>
          <a:p>
            <a:pPr indent="0" marL="0">
              <a:buNone/>
            </a:pPr>
            <a:r>
              <a:rPr lang="en-US" sz="1100" b="1" spc="200" kern="0" dirty="0">
                <a:solidFill>
                  <a:srgbClr val="F2A33C"/>
                </a:solidFill>
                <a:latin typeface="Calibri" pitchFamily="34" charset="0"/>
                <a:ea typeface="Calibri" pitchFamily="34" charset="-122"/>
                <a:cs typeface="Calibri" pitchFamily="34" charset="-120"/>
              </a:rPr>
              <a:t>DAYS 31–60</a:t>
            </a:r>
            <a:endParaRPr lang="en-US" sz="1100" dirty="0"/>
          </a:p>
        </p:txBody>
      </p:sp>
      <p:sp>
        <p:nvSpPr>
          <p:cNvPr id="14" name="Text 12"/>
          <p:cNvSpPr/>
          <p:nvPr/>
        </p:nvSpPr>
        <p:spPr>
          <a:xfrm>
            <a:off x="4745736" y="2103120"/>
            <a:ext cx="2962656" cy="457200"/>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Engine on</a:t>
            </a:r>
            <a:endParaRPr lang="en-US" sz="2100" dirty="0"/>
          </a:p>
        </p:txBody>
      </p:sp>
      <p:sp>
        <p:nvSpPr>
          <p:cNvPr id="15" name="Text 13"/>
          <p:cNvSpPr/>
          <p:nvPr/>
        </p:nvSpPr>
        <p:spPr>
          <a:xfrm>
            <a:off x="4745736" y="2852928"/>
            <a:ext cx="2907792" cy="3017520"/>
          </a:xfrm>
          <a:prstGeom prst="rect">
            <a:avLst/>
          </a:prstGeom>
          <a:noFill/>
          <a:ln/>
        </p:spPr>
        <p:txBody>
          <a:bodyPr wrap="square" lIns="0" tIns="0" rIns="0" bIns="0" rtlCol="0" anchor="ctr"/>
          <a:lstStyle/>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Outbound sequences live to 2–3 verticals</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Website + vertical landing pages launched</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First case study &amp; pillar content published</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Founder / CRO LinkedIn cadence running</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Paid + trade-show pilots tested</a:t>
            </a:r>
            <a:endParaRPr lang="en-US" sz="1250" dirty="0"/>
          </a:p>
        </p:txBody>
      </p:sp>
      <p:sp>
        <p:nvSpPr>
          <p:cNvPr id="16" name="Shape 14"/>
          <p:cNvSpPr/>
          <p:nvPr/>
        </p:nvSpPr>
        <p:spPr>
          <a:xfrm>
            <a:off x="8229600" y="1691640"/>
            <a:ext cx="3511296" cy="4343400"/>
          </a:xfrm>
          <a:prstGeom prst="rect">
            <a:avLst/>
          </a:prstGeom>
          <a:solidFill>
            <a:srgbClr val="FFFFFF"/>
          </a:solidFill>
          <a:ln w="12700">
            <a:solidFill>
              <a:srgbClr val="DDE3EC"/>
            </a:solidFill>
            <a:prstDash val="solid"/>
          </a:ln>
          <a:effectLst>
            <a:outerShdw sx="100000" sy="100000" kx="0" ky="0" algn="bl" rotWithShape="0" blurRad="114300" dist="38100" dir="5400000">
              <a:srgbClr val="0E1A2B">
                <a:alpha val="16000"/>
              </a:srgbClr>
            </a:outerShdw>
          </a:effectLst>
        </p:spPr>
      </p:sp>
      <p:sp>
        <p:nvSpPr>
          <p:cNvPr id="17" name="Shape 15"/>
          <p:cNvSpPr/>
          <p:nvPr/>
        </p:nvSpPr>
        <p:spPr>
          <a:xfrm>
            <a:off x="8229600" y="1691640"/>
            <a:ext cx="3511296" cy="914400"/>
          </a:xfrm>
          <a:prstGeom prst="rect">
            <a:avLst/>
          </a:prstGeom>
          <a:solidFill>
            <a:srgbClr val="27425F"/>
          </a:solidFill>
          <a:ln/>
        </p:spPr>
      </p:sp>
      <p:sp>
        <p:nvSpPr>
          <p:cNvPr id="18" name="Shape 16"/>
          <p:cNvSpPr/>
          <p:nvPr/>
        </p:nvSpPr>
        <p:spPr>
          <a:xfrm>
            <a:off x="8229600" y="1691640"/>
            <a:ext cx="3511296" cy="82296"/>
          </a:xfrm>
          <a:prstGeom prst="rect">
            <a:avLst/>
          </a:prstGeom>
          <a:solidFill>
            <a:srgbClr val="E8852B"/>
          </a:solidFill>
          <a:ln/>
        </p:spPr>
      </p:sp>
      <p:sp>
        <p:nvSpPr>
          <p:cNvPr id="19" name="Text 17"/>
          <p:cNvSpPr/>
          <p:nvPr/>
        </p:nvSpPr>
        <p:spPr>
          <a:xfrm>
            <a:off x="8540496" y="1828800"/>
            <a:ext cx="2962656" cy="274320"/>
          </a:xfrm>
          <a:prstGeom prst="rect">
            <a:avLst/>
          </a:prstGeom>
          <a:noFill/>
          <a:ln/>
        </p:spPr>
        <p:txBody>
          <a:bodyPr wrap="square" lIns="0" tIns="0" rIns="0" bIns="0" rtlCol="0" anchor="ctr"/>
          <a:lstStyle/>
          <a:p>
            <a:pPr indent="0" marL="0">
              <a:buNone/>
            </a:pPr>
            <a:r>
              <a:rPr lang="en-US" sz="1100" b="1" spc="200" kern="0" dirty="0">
                <a:solidFill>
                  <a:srgbClr val="F2A33C"/>
                </a:solidFill>
                <a:latin typeface="Calibri" pitchFamily="34" charset="0"/>
                <a:ea typeface="Calibri" pitchFamily="34" charset="-122"/>
                <a:cs typeface="Calibri" pitchFamily="34" charset="-120"/>
              </a:rPr>
              <a:t>DAYS 61–90</a:t>
            </a:r>
            <a:endParaRPr lang="en-US" sz="1100" dirty="0"/>
          </a:p>
        </p:txBody>
      </p:sp>
      <p:sp>
        <p:nvSpPr>
          <p:cNvPr id="20" name="Text 18"/>
          <p:cNvSpPr/>
          <p:nvPr/>
        </p:nvSpPr>
        <p:spPr>
          <a:xfrm>
            <a:off x="8540496" y="2103120"/>
            <a:ext cx="2962656" cy="457200"/>
          </a:xfrm>
          <a:prstGeom prst="rect">
            <a:avLst/>
          </a:prstGeom>
          <a:noFill/>
          <a:ln/>
        </p:spPr>
        <p:txBody>
          <a:bodyPr wrap="square" lIns="0" tIns="0" rIns="0" bIns="0"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Optimize &amp; scale</a:t>
            </a:r>
            <a:endParaRPr lang="en-US" sz="2100" dirty="0"/>
          </a:p>
        </p:txBody>
      </p:sp>
      <p:sp>
        <p:nvSpPr>
          <p:cNvPr id="21" name="Text 19"/>
          <p:cNvSpPr/>
          <p:nvPr/>
        </p:nvSpPr>
        <p:spPr>
          <a:xfrm>
            <a:off x="8540496" y="2852928"/>
            <a:ext cx="2907792" cy="3017520"/>
          </a:xfrm>
          <a:prstGeom prst="rect">
            <a:avLst/>
          </a:prstGeom>
          <a:noFill/>
          <a:ln/>
        </p:spPr>
        <p:txBody>
          <a:bodyPr wrap="square" lIns="0" tIns="0" rIns="0" bIns="0" rtlCol="0" anchor="ctr"/>
          <a:lstStyle/>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Cut the losers, scale the winning channel</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Add a second vertical or partnership motion</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Tighten offer &amp; message from real data</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Board-ready reporting Derek can present</a:t>
            </a:r>
            <a:endParaRPr lang="en-US" sz="1250" dirty="0"/>
          </a:p>
          <a:p>
            <a:pPr marL="177800" indent="-177800">
              <a:lnSpc>
                <a:spcPct val="100000"/>
              </a:lnSpc>
              <a:spcAft>
                <a:spcPts val="1000"/>
              </a:spcAft>
              <a:buSzPct val="100000"/>
              <a:buChar char="•"/>
            </a:pPr>
            <a:r>
              <a:rPr lang="en-US" sz="1250" dirty="0">
                <a:solidFill>
                  <a:srgbClr val="1A2738"/>
                </a:solidFill>
                <a:latin typeface="Calibri" pitchFamily="34" charset="0"/>
                <a:ea typeface="Calibri" pitchFamily="34" charset="-122"/>
                <a:cs typeface="Calibri" pitchFamily="34" charset="-120"/>
              </a:rPr>
              <a:t>Roadmap for the next quarter set</a:t>
            </a:r>
            <a:endParaRPr lang="en-US" sz="1250" dirty="0"/>
          </a:p>
        </p:txBody>
      </p:sp>
      <p:sp>
        <p:nvSpPr>
          <p:cNvPr id="22" name="Text 20"/>
          <p:cNvSpPr/>
          <p:nvPr/>
        </p:nvSpPr>
        <p:spPr>
          <a:xfrm>
            <a:off x="640080" y="6419088"/>
            <a:ext cx="8229600" cy="274320"/>
          </a:xfrm>
          <a:prstGeom prst="rect">
            <a:avLst/>
          </a:prstGeom>
          <a:noFill/>
          <a:ln/>
        </p:spPr>
        <p:txBody>
          <a:bodyPr wrap="square" lIns="0" tIns="0" rIns="0" bIns="0" rtlCol="0" anchor="ctr"/>
          <a:lstStyle/>
          <a:p>
            <a:pPr indent="0" marL="0">
              <a:buNone/>
            </a:pPr>
            <a:r>
              <a:rPr lang="en-US" sz="900" b="1" dirty="0">
                <a:solidFill>
                  <a:srgbClr val="1A2738"/>
                </a:solidFill>
                <a:latin typeface="Calibri" pitchFamily="34" charset="0"/>
                <a:ea typeface="Calibri" pitchFamily="34" charset="-122"/>
                <a:cs typeface="Calibri" pitchFamily="34" charset="-120"/>
              </a:rPr>
              <a:t>EmberTribe</a:t>
            </a:r>
            <a:pPr indent="0" marL="0">
              <a:buNone/>
            </a:pPr>
            <a:r>
              <a:rPr lang="en-US" sz="900" dirty="0">
                <a:solidFill>
                  <a:srgbClr val="5C6B7E"/>
                </a:solidFill>
                <a:latin typeface="Calibri" pitchFamily="34" charset="0"/>
                <a:ea typeface="Calibri" pitchFamily="34" charset="-122"/>
                <a:cs typeface="Calibri" pitchFamily="34" charset="-120"/>
              </a:rPr>
              <a:t>   ·   Confidential   ·   Prepared for Blank Slate Technologies</a:t>
            </a:r>
            <a:endParaRPr lang="en-US" sz="900" dirty="0"/>
          </a:p>
        </p:txBody>
      </p:sp>
      <p:sp>
        <p:nvSpPr>
          <p:cNvPr id="23" name="Text 21"/>
          <p:cNvSpPr/>
          <p:nvPr/>
        </p:nvSpPr>
        <p:spPr>
          <a:xfrm>
            <a:off x="11338560" y="6419088"/>
            <a:ext cx="457200" cy="274320"/>
          </a:xfrm>
          <a:prstGeom prst="rect">
            <a:avLst/>
          </a:prstGeom>
          <a:noFill/>
          <a:ln/>
        </p:spPr>
        <p:txBody>
          <a:bodyPr wrap="square" lIns="0" tIns="0" rIns="0" bIns="0"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SCOPE &amp; INVESTMENT</a:t>
            </a:r>
            <a:endParaRPr lang="en-US" sz="1200" dirty="0"/>
          </a:p>
        </p:txBody>
      </p:sp>
      <p:sp>
        <p:nvSpPr>
          <p:cNvPr id="3" name="Text 1"/>
          <p:cNvSpPr/>
          <p:nvPr/>
        </p:nvSpPr>
        <p:spPr>
          <a:xfrm>
            <a:off x="640080" y="777240"/>
            <a:ext cx="11155680" cy="640080"/>
          </a:xfrm>
          <a:prstGeom prst="rect">
            <a:avLst/>
          </a:prstGeom>
          <a:noFill/>
          <a:ln/>
        </p:spPr>
        <p:txBody>
          <a:bodyPr wrap="square" lIns="0" tIns="0" rIns="0" bIns="0" rtlCol="0" anchor="ctr"/>
          <a:lstStyle/>
          <a:p>
            <a:pPr indent="0" marL="0">
              <a:buNone/>
            </a:pPr>
            <a:r>
              <a:rPr lang="en-US" sz="2600" b="1" dirty="0">
                <a:solidFill>
                  <a:srgbClr val="1A2738"/>
                </a:solidFill>
                <a:latin typeface="Georgia" pitchFamily="34" charset="0"/>
                <a:ea typeface="Georgia" pitchFamily="34" charset="-122"/>
                <a:cs typeface="Georgia" pitchFamily="34" charset="-120"/>
              </a:rPr>
              <a:t>Take the full engine, or layer it in module by module</a:t>
            </a:r>
            <a:endParaRPr lang="en-US" sz="2600" dirty="0"/>
          </a:p>
        </p:txBody>
      </p:sp>
      <p:sp>
        <p:nvSpPr>
          <p:cNvPr id="4" name="Shape 2"/>
          <p:cNvSpPr/>
          <p:nvPr/>
        </p:nvSpPr>
        <p:spPr>
          <a:xfrm>
            <a:off x="640080" y="1645920"/>
            <a:ext cx="3977640" cy="4114800"/>
          </a:xfrm>
          <a:prstGeom prst="rect">
            <a:avLst/>
          </a:prstGeom>
          <a:solidFill>
            <a:srgbClr val="0E1A2B"/>
          </a:solidFill>
          <a:ln/>
          <a:effectLst>
            <a:outerShdw sx="100000" sy="100000" kx="0" ky="0" algn="bl" rotWithShape="0" blurRad="114300" dist="38100" dir="5400000">
              <a:srgbClr val="0E1A2B">
                <a:alpha val="16000"/>
              </a:srgbClr>
            </a:outerShdw>
          </a:effectLst>
        </p:spPr>
      </p:sp>
      <p:sp>
        <p:nvSpPr>
          <p:cNvPr id="5" name="Shape 3"/>
          <p:cNvSpPr/>
          <p:nvPr/>
        </p:nvSpPr>
        <p:spPr>
          <a:xfrm>
            <a:off x="640080" y="1645920"/>
            <a:ext cx="3977640" cy="82296"/>
          </a:xfrm>
          <a:prstGeom prst="rect">
            <a:avLst/>
          </a:prstGeom>
          <a:solidFill>
            <a:srgbClr val="E8852B"/>
          </a:solidFill>
          <a:ln/>
        </p:spPr>
      </p:sp>
      <p:sp>
        <p:nvSpPr>
          <p:cNvPr id="6" name="Text 4"/>
          <p:cNvSpPr/>
          <p:nvPr/>
        </p:nvSpPr>
        <p:spPr>
          <a:xfrm>
            <a:off x="914400" y="1874520"/>
            <a:ext cx="3474720" cy="274320"/>
          </a:xfrm>
          <a:prstGeom prst="rect">
            <a:avLst/>
          </a:prstGeom>
          <a:noFill/>
          <a:ln/>
        </p:spPr>
        <p:txBody>
          <a:bodyPr wrap="square" lIns="0" tIns="0" rIns="0" bIns="0" rtlCol="0" anchor="ctr"/>
          <a:lstStyle/>
          <a:p>
            <a:pPr indent="0" marL="0">
              <a:buNone/>
            </a:pPr>
            <a:r>
              <a:rPr lang="en-US" sz="1100" b="1" spc="200" kern="0" dirty="0">
                <a:solidFill>
                  <a:srgbClr val="F2A33C"/>
                </a:solidFill>
                <a:latin typeface="Calibri" pitchFamily="34" charset="0"/>
                <a:ea typeface="Calibri" pitchFamily="34" charset="-122"/>
                <a:cs typeface="Calibri" pitchFamily="34" charset="-120"/>
              </a:rPr>
              <a:t>RECOMMENDED</a:t>
            </a:r>
            <a:endParaRPr lang="en-US" sz="1100" dirty="0"/>
          </a:p>
        </p:txBody>
      </p:sp>
      <p:sp>
        <p:nvSpPr>
          <p:cNvPr id="7" name="Text 5"/>
          <p:cNvSpPr/>
          <p:nvPr/>
        </p:nvSpPr>
        <p:spPr>
          <a:xfrm>
            <a:off x="914400" y="2148840"/>
            <a:ext cx="3474720" cy="457200"/>
          </a:xfrm>
          <a:prstGeom prst="rect">
            <a:avLst/>
          </a:prstGeom>
          <a:noFill/>
          <a:ln/>
        </p:spPr>
        <p:txBody>
          <a:bodyPr wrap="square" lIns="0" tIns="0" rIns="0" bIns="0" rtlCol="0" anchor="ctr"/>
          <a:lstStyle/>
          <a:p>
            <a:pPr indent="0" marL="0">
              <a:buNone/>
            </a:pPr>
            <a:r>
              <a:rPr lang="en-US" sz="2300" b="1" dirty="0">
                <a:solidFill>
                  <a:srgbClr val="FFFFFF"/>
                </a:solidFill>
                <a:latin typeface="Georgia" pitchFamily="34" charset="0"/>
                <a:ea typeface="Georgia" pitchFamily="34" charset="-122"/>
                <a:cs typeface="Georgia" pitchFamily="34" charset="-120"/>
              </a:rPr>
              <a:t>Core GTM Engine</a:t>
            </a:r>
            <a:endParaRPr lang="en-US" sz="2300" dirty="0"/>
          </a:p>
        </p:txBody>
      </p:sp>
      <p:sp>
        <p:nvSpPr>
          <p:cNvPr id="8" name="Text 6"/>
          <p:cNvSpPr/>
          <p:nvPr/>
        </p:nvSpPr>
        <p:spPr>
          <a:xfrm>
            <a:off x="914400" y="2606040"/>
            <a:ext cx="3474720" cy="320040"/>
          </a:xfrm>
          <a:prstGeom prst="rect">
            <a:avLst/>
          </a:prstGeom>
          <a:noFill/>
          <a:ln/>
        </p:spPr>
        <p:txBody>
          <a:bodyPr wrap="square" lIns="0" tIns="0" rIns="0" bIns="0" rtlCol="0" anchor="ctr"/>
          <a:lstStyle/>
          <a:p>
            <a:pPr indent="0" marL="0">
              <a:buNone/>
            </a:pPr>
            <a:r>
              <a:rPr lang="en-US" sz="1250" i="1" dirty="0">
                <a:solidFill>
                  <a:srgbClr val="93A7C0"/>
                </a:solidFill>
                <a:latin typeface="Calibri" pitchFamily="34" charset="0"/>
                <a:ea typeface="Calibri" pitchFamily="34" charset="-122"/>
                <a:cs typeface="Calibri" pitchFamily="34" charset="-120"/>
              </a:rPr>
              <a:t>Done-for-you, multi-channel.</a:t>
            </a:r>
            <a:endParaRPr lang="en-US" sz="1250" dirty="0"/>
          </a:p>
        </p:txBody>
      </p:sp>
      <p:sp>
        <p:nvSpPr>
          <p:cNvPr id="9" name="Text 7"/>
          <p:cNvSpPr/>
          <p:nvPr/>
        </p:nvSpPr>
        <p:spPr>
          <a:xfrm>
            <a:off x="914400" y="3017520"/>
            <a:ext cx="3474720" cy="64008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$18K–$24K</a:t>
            </a:r>
            <a:pPr indent="0" marL="0">
              <a:buNone/>
            </a:pPr>
            <a:r>
              <a:rPr lang="en-US" sz="1500" dirty="0">
                <a:solidFill>
                  <a:srgbClr val="93A7C0"/>
                </a:solidFill>
                <a:latin typeface="Georgia" pitchFamily="34" charset="0"/>
                <a:ea typeface="Georgia" pitchFamily="34" charset="-122"/>
                <a:cs typeface="Georgia" pitchFamily="34" charset="-120"/>
              </a:rPr>
              <a:t> / mo</a:t>
            </a:r>
            <a:endParaRPr lang="en-US" sz="3300" dirty="0"/>
          </a:p>
        </p:txBody>
      </p:sp>
      <p:sp>
        <p:nvSpPr>
          <p:cNvPr id="10" name="Text 8"/>
          <p:cNvSpPr/>
          <p:nvPr/>
        </p:nvSpPr>
        <p:spPr>
          <a:xfrm>
            <a:off x="914400" y="3794760"/>
            <a:ext cx="3520440" cy="1828800"/>
          </a:xfrm>
          <a:prstGeom prst="rect">
            <a:avLst/>
          </a:prstGeom>
          <a:noFill/>
          <a:ln/>
        </p:spPr>
        <p:txBody>
          <a:bodyPr wrap="square" lIns="0" tIns="0" rIns="0" bIns="0" rtlCol="0" anchor="ctr"/>
          <a:lstStyle/>
          <a:p>
            <a:pPr marL="165100" indent="-165100">
              <a:lnSpc>
                <a:spcPct val="100000"/>
              </a:lnSpc>
              <a:spcAft>
                <a:spcPts val="900"/>
              </a:spcAft>
              <a:buSzPct val="100000"/>
              <a:buChar char="•"/>
            </a:pPr>
            <a:r>
              <a:rPr lang="en-US" sz="1250" dirty="0">
                <a:solidFill>
                  <a:srgbClr val="DCE7F5"/>
                </a:solidFill>
                <a:latin typeface="Calibri" pitchFamily="34" charset="0"/>
                <a:ea typeface="Calibri" pitchFamily="34" charset="-122"/>
                <a:cs typeface="Calibri" pitchFamily="34" charset="-120"/>
              </a:rPr>
              <a:t>Outbound engine + sequences</a:t>
            </a:r>
            <a:endParaRPr lang="en-US" sz="1250" dirty="0"/>
          </a:p>
          <a:p>
            <a:pPr marL="165100" indent="-165100">
              <a:lnSpc>
                <a:spcPct val="100000"/>
              </a:lnSpc>
              <a:spcAft>
                <a:spcPts val="900"/>
              </a:spcAft>
              <a:buSzPct val="100000"/>
              <a:buChar char="•"/>
            </a:pPr>
            <a:r>
              <a:rPr lang="en-US" sz="1250" dirty="0">
                <a:solidFill>
                  <a:srgbClr val="DCE7F5"/>
                </a:solidFill>
                <a:latin typeface="Calibri" pitchFamily="34" charset="0"/>
                <a:ea typeface="Calibri" pitchFamily="34" charset="-122"/>
                <a:cs typeface="Calibri" pitchFamily="34" charset="-120"/>
              </a:rPr>
              <a:t>Strategy, ICP &amp; messaging</a:t>
            </a:r>
            <a:endParaRPr lang="en-US" sz="1250" dirty="0"/>
          </a:p>
          <a:p>
            <a:pPr marL="165100" indent="-165100">
              <a:lnSpc>
                <a:spcPct val="100000"/>
              </a:lnSpc>
              <a:spcAft>
                <a:spcPts val="900"/>
              </a:spcAft>
              <a:buSzPct val="100000"/>
              <a:buChar char="•"/>
            </a:pPr>
            <a:r>
              <a:rPr lang="en-US" sz="1250" dirty="0">
                <a:solidFill>
                  <a:srgbClr val="DCE7F5"/>
                </a:solidFill>
                <a:latin typeface="Calibri" pitchFamily="34" charset="0"/>
                <a:ea typeface="Calibri" pitchFamily="34" charset="-122"/>
                <a:cs typeface="Calibri" pitchFamily="34" charset="-120"/>
              </a:rPr>
              <a:t>Proof-led content cadence</a:t>
            </a:r>
            <a:endParaRPr lang="en-US" sz="1250" dirty="0"/>
          </a:p>
          <a:p>
            <a:pPr marL="165100" indent="-165100">
              <a:lnSpc>
                <a:spcPct val="100000"/>
              </a:lnSpc>
              <a:spcAft>
                <a:spcPts val="900"/>
              </a:spcAft>
              <a:buSzPct val="100000"/>
              <a:buChar char="•"/>
            </a:pPr>
            <a:r>
              <a:rPr lang="en-US" sz="1250" dirty="0">
                <a:solidFill>
                  <a:srgbClr val="DCE7F5"/>
                </a:solidFill>
                <a:latin typeface="Calibri" pitchFamily="34" charset="0"/>
                <a:ea typeface="Calibri" pitchFamily="34" charset="-122"/>
                <a:cs typeface="Calibri" pitchFamily="34" charset="-120"/>
              </a:rPr>
              <a:t>Reporting Derek takes to the board</a:t>
            </a:r>
            <a:endParaRPr lang="en-US" sz="1250" dirty="0"/>
          </a:p>
        </p:txBody>
      </p:sp>
      <p:sp>
        <p:nvSpPr>
          <p:cNvPr id="11" name="Text 9"/>
          <p:cNvSpPr/>
          <p:nvPr/>
        </p:nvSpPr>
        <p:spPr>
          <a:xfrm>
            <a:off x="4937760" y="1645920"/>
            <a:ext cx="6611112" cy="365760"/>
          </a:xfrm>
          <a:prstGeom prst="rect">
            <a:avLst/>
          </a:prstGeom>
          <a:noFill/>
          <a:ln/>
        </p:spPr>
        <p:txBody>
          <a:bodyPr wrap="square" lIns="0" tIns="0" rIns="0" bIns="0" rtlCol="0" anchor="ctr"/>
          <a:lstStyle/>
          <a:p>
            <a:pPr indent="0" marL="0">
              <a:buNone/>
            </a:pPr>
            <a:r>
              <a:rPr lang="en-US" sz="1600" b="1" dirty="0">
                <a:solidFill>
                  <a:srgbClr val="1A2738"/>
                </a:solidFill>
                <a:latin typeface="Georgia" pitchFamily="34" charset="0"/>
                <a:ea typeface="Georgia" pitchFamily="34" charset="-122"/>
                <a:cs typeface="Georgia" pitchFamily="34" charset="-120"/>
              </a:rPr>
              <a:t>Layer-in modules</a:t>
            </a:r>
            <a:endParaRPr lang="en-US" sz="1600" dirty="0"/>
          </a:p>
        </p:txBody>
      </p:sp>
      <p:sp>
        <p:nvSpPr>
          <p:cNvPr id="12" name="Shape 10"/>
          <p:cNvSpPr/>
          <p:nvPr/>
        </p:nvSpPr>
        <p:spPr>
          <a:xfrm>
            <a:off x="4937760" y="2121408"/>
            <a:ext cx="6611112" cy="749808"/>
          </a:xfrm>
          <a:prstGeom prst="rect">
            <a:avLst/>
          </a:prstGeom>
          <a:solidFill>
            <a:srgbClr val="FFFFFF"/>
          </a:solidFill>
          <a:ln w="12700">
            <a:solidFill>
              <a:srgbClr val="DDE3EC"/>
            </a:solidFill>
            <a:prstDash val="solid"/>
          </a:ln>
        </p:spPr>
      </p:sp>
      <p:sp>
        <p:nvSpPr>
          <p:cNvPr id="13" name="Shape 11"/>
          <p:cNvSpPr/>
          <p:nvPr/>
        </p:nvSpPr>
        <p:spPr>
          <a:xfrm>
            <a:off x="4937760" y="2121408"/>
            <a:ext cx="91440" cy="749808"/>
          </a:xfrm>
          <a:prstGeom prst="rect">
            <a:avLst/>
          </a:prstGeom>
          <a:solidFill>
            <a:srgbClr val="E8852B"/>
          </a:solidFill>
          <a:ln/>
        </p:spPr>
      </p:sp>
      <p:sp>
        <p:nvSpPr>
          <p:cNvPr id="14" name="Text 12"/>
          <p:cNvSpPr/>
          <p:nvPr/>
        </p:nvSpPr>
        <p:spPr>
          <a:xfrm>
            <a:off x="5230368" y="2240280"/>
            <a:ext cx="4160520" cy="292608"/>
          </a:xfrm>
          <a:prstGeom prst="rect">
            <a:avLst/>
          </a:prstGeom>
          <a:noFill/>
          <a:ln/>
        </p:spPr>
        <p:txBody>
          <a:bodyPr wrap="square" lIns="0" tIns="0" rIns="0" bIns="0" rtlCol="0" anchor="ctr"/>
          <a:lstStyle/>
          <a:p>
            <a:pPr indent="0" marL="0">
              <a:buNone/>
            </a:pPr>
            <a:r>
              <a:rPr lang="en-US" sz="1400" b="1" dirty="0">
                <a:solidFill>
                  <a:srgbClr val="1A2738"/>
                </a:solidFill>
                <a:latin typeface="Georgia" pitchFamily="34" charset="0"/>
                <a:ea typeface="Georgia" pitchFamily="34" charset="-122"/>
                <a:cs typeface="Georgia" pitchFamily="34" charset="-120"/>
              </a:rPr>
              <a:t>Website rebuild + landing pages</a:t>
            </a:r>
            <a:endParaRPr lang="en-US" sz="1400" dirty="0"/>
          </a:p>
        </p:txBody>
      </p:sp>
      <p:sp>
        <p:nvSpPr>
          <p:cNvPr id="15" name="Text 13"/>
          <p:cNvSpPr/>
          <p:nvPr/>
        </p:nvSpPr>
        <p:spPr>
          <a:xfrm>
            <a:off x="5230368" y="2542032"/>
            <a:ext cx="4160520" cy="256032"/>
          </a:xfrm>
          <a:prstGeom prst="rect">
            <a:avLst/>
          </a:prstGeom>
          <a:noFill/>
          <a:ln/>
        </p:spPr>
        <p:txBody>
          <a:bodyPr wrap="square" lIns="0" tIns="0" rIns="0" bIns="0" rtlCol="0" anchor="ctr"/>
          <a:lstStyle/>
          <a:p>
            <a:pPr indent="0" marL="0">
              <a:buNone/>
            </a:pPr>
            <a:r>
              <a:rPr lang="en-US" sz="1100" dirty="0">
                <a:solidFill>
                  <a:srgbClr val="5C6B7E"/>
                </a:solidFill>
                <a:latin typeface="Calibri" pitchFamily="34" charset="0"/>
                <a:ea typeface="Calibri" pitchFamily="34" charset="-122"/>
                <a:cs typeface="Calibri" pitchFamily="34" charset="-120"/>
              </a:rPr>
              <a:t>Full rebuild plus fast per-vertical pages</a:t>
            </a:r>
            <a:endParaRPr lang="en-US" sz="1100" dirty="0"/>
          </a:p>
        </p:txBody>
      </p:sp>
      <p:sp>
        <p:nvSpPr>
          <p:cNvPr id="16" name="Text 14"/>
          <p:cNvSpPr/>
          <p:nvPr/>
        </p:nvSpPr>
        <p:spPr>
          <a:xfrm>
            <a:off x="9464040" y="2121408"/>
            <a:ext cx="2011680" cy="749808"/>
          </a:xfrm>
          <a:prstGeom prst="rect">
            <a:avLst/>
          </a:prstGeom>
          <a:noFill/>
          <a:ln/>
        </p:spPr>
        <p:txBody>
          <a:bodyPr wrap="square" lIns="0" tIns="0" rIns="0" bIns="0" rtlCol="0" anchor="ctr"/>
          <a:lstStyle/>
          <a:p>
            <a:pPr algn="r" indent="0" marL="0">
              <a:buNone/>
            </a:pPr>
            <a:r>
              <a:rPr lang="en-US" sz="1350" b="1" dirty="0">
                <a:solidFill>
                  <a:srgbClr val="E8852B"/>
                </a:solidFill>
                <a:latin typeface="Georgia" pitchFamily="34" charset="0"/>
                <a:ea typeface="Georgia" pitchFamily="34" charset="-122"/>
                <a:cs typeface="Georgia" pitchFamily="34" charset="-120"/>
              </a:rPr>
              <a:t>$22K–$35K one-time</a:t>
            </a:r>
            <a:endParaRPr lang="en-US" sz="1350" dirty="0"/>
          </a:p>
        </p:txBody>
      </p:sp>
      <p:sp>
        <p:nvSpPr>
          <p:cNvPr id="17" name="Shape 15"/>
          <p:cNvSpPr/>
          <p:nvPr/>
        </p:nvSpPr>
        <p:spPr>
          <a:xfrm>
            <a:off x="4937760" y="2990088"/>
            <a:ext cx="6611112" cy="749808"/>
          </a:xfrm>
          <a:prstGeom prst="rect">
            <a:avLst/>
          </a:prstGeom>
          <a:solidFill>
            <a:srgbClr val="FFFFFF"/>
          </a:solidFill>
          <a:ln w="12700">
            <a:solidFill>
              <a:srgbClr val="DDE3EC"/>
            </a:solidFill>
            <a:prstDash val="solid"/>
          </a:ln>
        </p:spPr>
      </p:sp>
      <p:sp>
        <p:nvSpPr>
          <p:cNvPr id="18" name="Shape 16"/>
          <p:cNvSpPr/>
          <p:nvPr/>
        </p:nvSpPr>
        <p:spPr>
          <a:xfrm>
            <a:off x="4937760" y="2990088"/>
            <a:ext cx="91440" cy="749808"/>
          </a:xfrm>
          <a:prstGeom prst="rect">
            <a:avLst/>
          </a:prstGeom>
          <a:solidFill>
            <a:srgbClr val="E8852B"/>
          </a:solidFill>
          <a:ln/>
        </p:spPr>
      </p:sp>
      <p:sp>
        <p:nvSpPr>
          <p:cNvPr id="19" name="Text 17"/>
          <p:cNvSpPr/>
          <p:nvPr/>
        </p:nvSpPr>
        <p:spPr>
          <a:xfrm>
            <a:off x="5230368" y="3108960"/>
            <a:ext cx="4160520" cy="292608"/>
          </a:xfrm>
          <a:prstGeom prst="rect">
            <a:avLst/>
          </a:prstGeom>
          <a:noFill/>
          <a:ln/>
        </p:spPr>
        <p:txBody>
          <a:bodyPr wrap="square" lIns="0" tIns="0" rIns="0" bIns="0" rtlCol="0" anchor="ctr"/>
          <a:lstStyle/>
          <a:p>
            <a:pPr indent="0" marL="0">
              <a:buNone/>
            </a:pPr>
            <a:r>
              <a:rPr lang="en-US" sz="1400" b="1" dirty="0">
                <a:solidFill>
                  <a:srgbClr val="1A2738"/>
                </a:solidFill>
                <a:latin typeface="Georgia" pitchFamily="34" charset="0"/>
                <a:ea typeface="Georgia" pitchFamily="34" charset="-122"/>
                <a:cs typeface="Georgia" pitchFamily="34" charset="-120"/>
              </a:rPr>
              <a:t>Paid media: LinkedIn ABM</a:t>
            </a:r>
            <a:endParaRPr lang="en-US" sz="1400" dirty="0"/>
          </a:p>
        </p:txBody>
      </p:sp>
      <p:sp>
        <p:nvSpPr>
          <p:cNvPr id="20" name="Text 18"/>
          <p:cNvSpPr/>
          <p:nvPr/>
        </p:nvSpPr>
        <p:spPr>
          <a:xfrm>
            <a:off x="5230368" y="3410712"/>
            <a:ext cx="4160520" cy="256032"/>
          </a:xfrm>
          <a:prstGeom prst="rect">
            <a:avLst/>
          </a:prstGeom>
          <a:noFill/>
          <a:ln/>
        </p:spPr>
        <p:txBody>
          <a:bodyPr wrap="square" lIns="0" tIns="0" rIns="0" bIns="0" rtlCol="0" anchor="ctr"/>
          <a:lstStyle/>
          <a:p>
            <a:pPr indent="0" marL="0">
              <a:buNone/>
            </a:pPr>
            <a:r>
              <a:rPr lang="en-US" sz="1100" dirty="0">
                <a:solidFill>
                  <a:srgbClr val="5C6B7E"/>
                </a:solidFill>
                <a:latin typeface="Calibri" pitchFamily="34" charset="0"/>
                <a:ea typeface="Calibri" pitchFamily="34" charset="-122"/>
                <a:cs typeface="Calibri" pitchFamily="34" charset="-120"/>
              </a:rPr>
              <a:t>ABM to compliance &amp; safety titles</a:t>
            </a:r>
            <a:endParaRPr lang="en-US" sz="1100" dirty="0"/>
          </a:p>
        </p:txBody>
      </p:sp>
      <p:sp>
        <p:nvSpPr>
          <p:cNvPr id="21" name="Text 19"/>
          <p:cNvSpPr/>
          <p:nvPr/>
        </p:nvSpPr>
        <p:spPr>
          <a:xfrm>
            <a:off x="9464040" y="2990088"/>
            <a:ext cx="2011680" cy="749808"/>
          </a:xfrm>
          <a:prstGeom prst="rect">
            <a:avLst/>
          </a:prstGeom>
          <a:noFill/>
          <a:ln/>
        </p:spPr>
        <p:txBody>
          <a:bodyPr wrap="square" lIns="0" tIns="0" rIns="0" bIns="0" rtlCol="0" anchor="ctr"/>
          <a:lstStyle/>
          <a:p>
            <a:pPr algn="r" indent="0" marL="0">
              <a:buNone/>
            </a:pPr>
            <a:r>
              <a:rPr lang="en-US" sz="1350" b="1" dirty="0">
                <a:solidFill>
                  <a:srgbClr val="E8852B"/>
                </a:solidFill>
                <a:latin typeface="Georgia" pitchFamily="34" charset="0"/>
                <a:ea typeface="Georgia" pitchFamily="34" charset="-122"/>
                <a:cs typeface="Georgia" pitchFamily="34" charset="-120"/>
              </a:rPr>
              <a:t>$3.5K–$5K / mo + spend</a:t>
            </a:r>
            <a:endParaRPr lang="en-US" sz="1350" dirty="0"/>
          </a:p>
        </p:txBody>
      </p:sp>
      <p:sp>
        <p:nvSpPr>
          <p:cNvPr id="22" name="Shape 20"/>
          <p:cNvSpPr/>
          <p:nvPr/>
        </p:nvSpPr>
        <p:spPr>
          <a:xfrm>
            <a:off x="4937760" y="3858768"/>
            <a:ext cx="6611112" cy="749808"/>
          </a:xfrm>
          <a:prstGeom prst="rect">
            <a:avLst/>
          </a:prstGeom>
          <a:solidFill>
            <a:srgbClr val="FFFFFF"/>
          </a:solidFill>
          <a:ln w="12700">
            <a:solidFill>
              <a:srgbClr val="DDE3EC"/>
            </a:solidFill>
            <a:prstDash val="solid"/>
          </a:ln>
        </p:spPr>
      </p:sp>
      <p:sp>
        <p:nvSpPr>
          <p:cNvPr id="23" name="Shape 21"/>
          <p:cNvSpPr/>
          <p:nvPr/>
        </p:nvSpPr>
        <p:spPr>
          <a:xfrm>
            <a:off x="4937760" y="3858768"/>
            <a:ext cx="91440" cy="749808"/>
          </a:xfrm>
          <a:prstGeom prst="rect">
            <a:avLst/>
          </a:prstGeom>
          <a:solidFill>
            <a:srgbClr val="E8852B"/>
          </a:solidFill>
          <a:ln/>
        </p:spPr>
      </p:sp>
      <p:sp>
        <p:nvSpPr>
          <p:cNvPr id="24" name="Text 22"/>
          <p:cNvSpPr/>
          <p:nvPr/>
        </p:nvSpPr>
        <p:spPr>
          <a:xfrm>
            <a:off x="5230368" y="3977640"/>
            <a:ext cx="4160520" cy="292608"/>
          </a:xfrm>
          <a:prstGeom prst="rect">
            <a:avLst/>
          </a:prstGeom>
          <a:noFill/>
          <a:ln/>
        </p:spPr>
        <p:txBody>
          <a:bodyPr wrap="square" lIns="0" tIns="0" rIns="0" bIns="0" rtlCol="0" anchor="ctr"/>
          <a:lstStyle/>
          <a:p>
            <a:pPr indent="0" marL="0">
              <a:buNone/>
            </a:pPr>
            <a:r>
              <a:rPr lang="en-US" sz="1400" b="1" dirty="0">
                <a:solidFill>
                  <a:srgbClr val="1A2738"/>
                </a:solidFill>
                <a:latin typeface="Georgia" pitchFamily="34" charset="0"/>
                <a:ea typeface="Georgia" pitchFamily="34" charset="-122"/>
                <a:cs typeface="Georgia" pitchFamily="34" charset="-120"/>
              </a:rPr>
              <a:t>Founder &amp; exec brand + batch content</a:t>
            </a:r>
            <a:endParaRPr lang="en-US" sz="1400" dirty="0"/>
          </a:p>
        </p:txBody>
      </p:sp>
      <p:sp>
        <p:nvSpPr>
          <p:cNvPr id="25" name="Text 23"/>
          <p:cNvSpPr/>
          <p:nvPr/>
        </p:nvSpPr>
        <p:spPr>
          <a:xfrm>
            <a:off x="5230368" y="4279392"/>
            <a:ext cx="4160520" cy="256032"/>
          </a:xfrm>
          <a:prstGeom prst="rect">
            <a:avLst/>
          </a:prstGeom>
          <a:noFill/>
          <a:ln/>
        </p:spPr>
        <p:txBody>
          <a:bodyPr wrap="square" lIns="0" tIns="0" rIns="0" bIns="0" rtlCol="0" anchor="ctr"/>
          <a:lstStyle/>
          <a:p>
            <a:pPr indent="0" marL="0">
              <a:buNone/>
            </a:pPr>
            <a:r>
              <a:rPr lang="en-US" sz="1100" dirty="0">
                <a:solidFill>
                  <a:srgbClr val="5C6B7E"/>
                </a:solidFill>
                <a:latin typeface="Calibri" pitchFamily="34" charset="0"/>
                <a:ea typeface="Calibri" pitchFamily="34" charset="-122"/>
                <a:cs typeface="Calibri" pitchFamily="34" charset="-120"/>
              </a:rPr>
              <a:t>Incl. one on-site capture day</a:t>
            </a:r>
            <a:endParaRPr lang="en-US" sz="1100" dirty="0"/>
          </a:p>
        </p:txBody>
      </p:sp>
      <p:sp>
        <p:nvSpPr>
          <p:cNvPr id="26" name="Text 24"/>
          <p:cNvSpPr/>
          <p:nvPr/>
        </p:nvSpPr>
        <p:spPr>
          <a:xfrm>
            <a:off x="9464040" y="3858768"/>
            <a:ext cx="2011680" cy="749808"/>
          </a:xfrm>
          <a:prstGeom prst="rect">
            <a:avLst/>
          </a:prstGeom>
          <a:noFill/>
          <a:ln/>
        </p:spPr>
        <p:txBody>
          <a:bodyPr wrap="square" lIns="0" tIns="0" rIns="0" bIns="0" rtlCol="0" anchor="ctr"/>
          <a:lstStyle/>
          <a:p>
            <a:pPr algn="r" indent="0" marL="0">
              <a:buNone/>
            </a:pPr>
            <a:r>
              <a:rPr lang="en-US" sz="1350" b="1" dirty="0">
                <a:solidFill>
                  <a:srgbClr val="E8852B"/>
                </a:solidFill>
                <a:latin typeface="Georgia" pitchFamily="34" charset="0"/>
                <a:ea typeface="Georgia" pitchFamily="34" charset="-122"/>
                <a:cs typeface="Georgia" pitchFamily="34" charset="-120"/>
              </a:rPr>
              <a:t>$4.5K–$7.5K / mo</a:t>
            </a:r>
            <a:endParaRPr lang="en-US" sz="1350" dirty="0"/>
          </a:p>
        </p:txBody>
      </p:sp>
      <p:sp>
        <p:nvSpPr>
          <p:cNvPr id="27" name="Shape 25"/>
          <p:cNvSpPr/>
          <p:nvPr/>
        </p:nvSpPr>
        <p:spPr>
          <a:xfrm>
            <a:off x="4937760" y="4727448"/>
            <a:ext cx="6611112" cy="749808"/>
          </a:xfrm>
          <a:prstGeom prst="rect">
            <a:avLst/>
          </a:prstGeom>
          <a:solidFill>
            <a:srgbClr val="FFFFFF"/>
          </a:solidFill>
          <a:ln w="12700">
            <a:solidFill>
              <a:srgbClr val="DDE3EC"/>
            </a:solidFill>
            <a:prstDash val="solid"/>
          </a:ln>
        </p:spPr>
      </p:sp>
      <p:sp>
        <p:nvSpPr>
          <p:cNvPr id="28" name="Shape 26"/>
          <p:cNvSpPr/>
          <p:nvPr/>
        </p:nvSpPr>
        <p:spPr>
          <a:xfrm>
            <a:off x="4937760" y="4727448"/>
            <a:ext cx="91440" cy="749808"/>
          </a:xfrm>
          <a:prstGeom prst="rect">
            <a:avLst/>
          </a:prstGeom>
          <a:solidFill>
            <a:srgbClr val="E8852B"/>
          </a:solidFill>
          <a:ln/>
        </p:spPr>
      </p:sp>
      <p:sp>
        <p:nvSpPr>
          <p:cNvPr id="29" name="Text 27"/>
          <p:cNvSpPr/>
          <p:nvPr/>
        </p:nvSpPr>
        <p:spPr>
          <a:xfrm>
            <a:off x="5230368" y="4846320"/>
            <a:ext cx="4160520" cy="292608"/>
          </a:xfrm>
          <a:prstGeom prst="rect">
            <a:avLst/>
          </a:prstGeom>
          <a:noFill/>
          <a:ln/>
        </p:spPr>
        <p:txBody>
          <a:bodyPr wrap="square" lIns="0" tIns="0" rIns="0" bIns="0" rtlCol="0" anchor="ctr"/>
          <a:lstStyle/>
          <a:p>
            <a:pPr indent="0" marL="0">
              <a:buNone/>
            </a:pPr>
            <a:r>
              <a:rPr lang="en-US" sz="1400" b="1" dirty="0">
                <a:solidFill>
                  <a:srgbClr val="1A2738"/>
                </a:solidFill>
                <a:latin typeface="Georgia" pitchFamily="34" charset="0"/>
                <a:ea typeface="Georgia" pitchFamily="34" charset="-122"/>
                <a:cs typeface="Georgia" pitchFamily="34" charset="-120"/>
              </a:rPr>
              <a:t>Trade-show + geo-targeting activation</a:t>
            </a:r>
            <a:endParaRPr lang="en-US" sz="1400" dirty="0"/>
          </a:p>
        </p:txBody>
      </p:sp>
      <p:sp>
        <p:nvSpPr>
          <p:cNvPr id="30" name="Text 28"/>
          <p:cNvSpPr/>
          <p:nvPr/>
        </p:nvSpPr>
        <p:spPr>
          <a:xfrm>
            <a:off x="5230368" y="5148072"/>
            <a:ext cx="4160520" cy="256032"/>
          </a:xfrm>
          <a:prstGeom prst="rect">
            <a:avLst/>
          </a:prstGeom>
          <a:noFill/>
          <a:ln/>
        </p:spPr>
        <p:txBody>
          <a:bodyPr wrap="square" lIns="0" tIns="0" rIns="0" bIns="0" rtlCol="0" anchor="ctr"/>
          <a:lstStyle/>
          <a:p>
            <a:pPr indent="0" marL="0">
              <a:buNone/>
            </a:pPr>
            <a:r>
              <a:rPr lang="en-US" sz="1100" dirty="0">
                <a:solidFill>
                  <a:srgbClr val="5C6B7E"/>
                </a:solidFill>
                <a:latin typeface="Calibri" pitchFamily="34" charset="0"/>
                <a:ea typeface="Calibri" pitchFamily="34" charset="-122"/>
                <a:cs typeface="Calibri" pitchFamily="34" charset="-120"/>
              </a:rPr>
              <a:t>Geo-fenced reach around key shows</a:t>
            </a:r>
            <a:endParaRPr lang="en-US" sz="1100" dirty="0"/>
          </a:p>
        </p:txBody>
      </p:sp>
      <p:sp>
        <p:nvSpPr>
          <p:cNvPr id="31" name="Text 29"/>
          <p:cNvSpPr/>
          <p:nvPr/>
        </p:nvSpPr>
        <p:spPr>
          <a:xfrm>
            <a:off x="9464040" y="4727448"/>
            <a:ext cx="2011680" cy="749808"/>
          </a:xfrm>
          <a:prstGeom prst="rect">
            <a:avLst/>
          </a:prstGeom>
          <a:noFill/>
          <a:ln/>
        </p:spPr>
        <p:txBody>
          <a:bodyPr wrap="square" lIns="0" tIns="0" rIns="0" bIns="0" rtlCol="0" anchor="ctr"/>
          <a:lstStyle/>
          <a:p>
            <a:pPr algn="r" indent="0" marL="0">
              <a:buNone/>
            </a:pPr>
            <a:r>
              <a:rPr lang="en-US" sz="1350" b="1" dirty="0">
                <a:solidFill>
                  <a:srgbClr val="E8852B"/>
                </a:solidFill>
                <a:latin typeface="Georgia" pitchFamily="34" charset="0"/>
                <a:ea typeface="Georgia" pitchFamily="34" charset="-122"/>
                <a:cs typeface="Georgia" pitchFamily="34" charset="-120"/>
              </a:rPr>
              <a:t>Scoped per event</a:t>
            </a:r>
            <a:endParaRPr lang="en-US" sz="1350" dirty="0"/>
          </a:p>
        </p:txBody>
      </p:sp>
      <p:sp>
        <p:nvSpPr>
          <p:cNvPr id="32" name="Shape 30"/>
          <p:cNvSpPr/>
          <p:nvPr/>
        </p:nvSpPr>
        <p:spPr>
          <a:xfrm>
            <a:off x="640080" y="5925312"/>
            <a:ext cx="10908792" cy="566928"/>
          </a:xfrm>
          <a:prstGeom prst="rect">
            <a:avLst/>
          </a:prstGeom>
          <a:solidFill>
            <a:srgbClr val="FBEEDD"/>
          </a:solidFill>
          <a:ln/>
        </p:spPr>
      </p:sp>
      <p:sp>
        <p:nvSpPr>
          <p:cNvPr id="33" name="Shape 31"/>
          <p:cNvSpPr/>
          <p:nvPr/>
        </p:nvSpPr>
        <p:spPr>
          <a:xfrm>
            <a:off x="640080" y="5925312"/>
            <a:ext cx="91440" cy="566928"/>
          </a:xfrm>
          <a:prstGeom prst="rect">
            <a:avLst/>
          </a:prstGeom>
          <a:solidFill>
            <a:srgbClr val="E8852B"/>
          </a:solidFill>
          <a:ln/>
        </p:spPr>
      </p:sp>
      <p:sp>
        <p:nvSpPr>
          <p:cNvPr id="34" name="Text 32"/>
          <p:cNvSpPr/>
          <p:nvPr/>
        </p:nvSpPr>
        <p:spPr>
          <a:xfrm>
            <a:off x="914400" y="5925312"/>
            <a:ext cx="10515600" cy="566928"/>
          </a:xfrm>
          <a:prstGeom prst="rect">
            <a:avLst/>
          </a:prstGeom>
          <a:noFill/>
          <a:ln/>
        </p:spPr>
        <p:txBody>
          <a:bodyPr wrap="square" lIns="0" tIns="0" rIns="0" bIns="0" rtlCol="0" anchor="ctr"/>
          <a:lstStyle/>
          <a:p>
            <a:pPr indent="0" marL="0">
              <a:buNone/>
            </a:pPr>
            <a:r>
              <a:rPr lang="en-US" sz="1200" b="1" dirty="0">
                <a:solidFill>
                  <a:srgbClr val="9A5A12"/>
                </a:solidFill>
                <a:latin typeface="Calibri" pitchFamily="34" charset="0"/>
                <a:ea typeface="Calibri" pitchFamily="34" charset="-122"/>
                <a:cs typeface="Calibri" pitchFamily="34" charset="-120"/>
              </a:rPr>
              <a:t>Phased entry available:  </a:t>
            </a:r>
            <a:pPr indent="0" marL="0">
              <a:buNone/>
            </a:pPr>
            <a:r>
              <a:rPr lang="en-US" sz="1200" dirty="0">
                <a:solidFill>
                  <a:srgbClr val="7A5A2E"/>
                </a:solidFill>
                <a:latin typeface="Calibri" pitchFamily="34" charset="0"/>
                <a:ea typeface="Calibri" pitchFamily="34" charset="-122"/>
                <a:cs typeface="Calibri" pitchFamily="34" charset="-120"/>
              </a:rPr>
              <a:t>start with an Outbound Foundation at ~$9K–$12K/mo and layer modules as channels prove out. Ranges are proposed for discussion.</a:t>
            </a:r>
            <a:endParaRPr lang="en-US" sz="1200" dirty="0"/>
          </a:p>
        </p:txBody>
      </p:sp>
      <p:sp>
        <p:nvSpPr>
          <p:cNvPr id="35" name="Text 33"/>
          <p:cNvSpPr/>
          <p:nvPr/>
        </p:nvSpPr>
        <p:spPr>
          <a:xfrm>
            <a:off x="640080" y="6419088"/>
            <a:ext cx="8229600" cy="274320"/>
          </a:xfrm>
          <a:prstGeom prst="rect">
            <a:avLst/>
          </a:prstGeom>
          <a:noFill/>
          <a:ln/>
        </p:spPr>
        <p:txBody>
          <a:bodyPr wrap="square" lIns="0" tIns="0" rIns="0" bIns="0" rtlCol="0" anchor="ctr"/>
          <a:lstStyle/>
          <a:p>
            <a:pPr indent="0" marL="0">
              <a:buNone/>
            </a:pPr>
            <a:r>
              <a:rPr lang="en-US" sz="900" b="1" dirty="0">
                <a:solidFill>
                  <a:srgbClr val="1A2738"/>
                </a:solidFill>
                <a:latin typeface="Calibri" pitchFamily="34" charset="0"/>
                <a:ea typeface="Calibri" pitchFamily="34" charset="-122"/>
                <a:cs typeface="Calibri" pitchFamily="34" charset="-120"/>
              </a:rPr>
              <a:t>EmberTribe</a:t>
            </a:r>
            <a:pPr indent="0" marL="0">
              <a:buNone/>
            </a:pPr>
            <a:r>
              <a:rPr lang="en-US" sz="900" dirty="0">
                <a:solidFill>
                  <a:srgbClr val="5C6B7E"/>
                </a:solidFill>
                <a:latin typeface="Calibri" pitchFamily="34" charset="0"/>
                <a:ea typeface="Calibri" pitchFamily="34" charset="-122"/>
                <a:cs typeface="Calibri" pitchFamily="34" charset="-120"/>
              </a:rPr>
              <a:t>   ·   Confidential   ·   Prepared for Blank Slate Technologies</a:t>
            </a:r>
            <a:endParaRPr lang="en-US" sz="900" dirty="0"/>
          </a:p>
        </p:txBody>
      </p:sp>
      <p:sp>
        <p:nvSpPr>
          <p:cNvPr id="36" name="Text 34"/>
          <p:cNvSpPr/>
          <p:nvPr/>
        </p:nvSpPr>
        <p:spPr>
          <a:xfrm>
            <a:off x="11338560" y="6419088"/>
            <a:ext cx="457200" cy="274320"/>
          </a:xfrm>
          <a:prstGeom prst="rect">
            <a:avLst/>
          </a:prstGeom>
          <a:noFill/>
          <a:ln/>
        </p:spPr>
        <p:txBody>
          <a:bodyPr wrap="square" lIns="0" tIns="0" rIns="0" bIns="0" rtlCol="0" anchor="ctr"/>
          <a:lstStyle/>
          <a:p>
            <a:pPr algn="r" indent="0" marL="0">
              <a:buNone/>
            </a:pPr>
            <a:r>
              <a:rPr lang="en-US" sz="900" dirty="0">
                <a:solidFill>
                  <a:srgbClr val="5C6B7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8852B"/>
          </a:solidFill>
          <a:ln/>
        </p:spPr>
      </p:sp>
      <p:sp>
        <p:nvSpPr>
          <p:cNvPr id="3" name="Text 1"/>
          <p:cNvSpPr/>
          <p:nvPr/>
        </p:nvSpPr>
        <p:spPr>
          <a:xfrm>
            <a:off x="822960" y="640080"/>
            <a:ext cx="7315200" cy="274320"/>
          </a:xfrm>
          <a:prstGeom prst="rect">
            <a:avLst/>
          </a:prstGeom>
          <a:noFill/>
          <a:ln/>
        </p:spPr>
        <p:txBody>
          <a:bodyPr wrap="square" lIns="0" tIns="0" rIns="0" bIns="0" rtlCol="0" anchor="ctr"/>
          <a:lstStyle/>
          <a:p>
            <a:pPr algn="l" indent="0" marL="0">
              <a:buNone/>
            </a:pPr>
            <a:r>
              <a:rPr lang="en-US" sz="1200" b="1" spc="300" kern="0" dirty="0">
                <a:solidFill>
                  <a:srgbClr val="E8852B"/>
                </a:solidFill>
                <a:latin typeface="Calibri" pitchFamily="34" charset="0"/>
                <a:ea typeface="Calibri" pitchFamily="34" charset="-122"/>
                <a:cs typeface="Calibri" pitchFamily="34" charset="-120"/>
              </a:rPr>
              <a:t>WHY EMBERTRIBE</a:t>
            </a:r>
            <a:endParaRPr lang="en-US" sz="1200" dirty="0"/>
          </a:p>
        </p:txBody>
      </p:sp>
      <p:sp>
        <p:nvSpPr>
          <p:cNvPr id="4" name="Text 2"/>
          <p:cNvSpPr/>
          <p:nvPr/>
        </p:nvSpPr>
        <p:spPr>
          <a:xfrm>
            <a:off x="777240" y="960120"/>
            <a:ext cx="10607040" cy="64008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A done-for-you partner, not a deck of strategy slides</a:t>
            </a:r>
            <a:endParaRPr lang="en-US" sz="2700" dirty="0"/>
          </a:p>
        </p:txBody>
      </p:sp>
      <p:sp>
        <p:nvSpPr>
          <p:cNvPr id="5" name="Shape 3"/>
          <p:cNvSpPr/>
          <p:nvPr/>
        </p:nvSpPr>
        <p:spPr>
          <a:xfrm>
            <a:off x="822960" y="1783080"/>
            <a:ext cx="2615184" cy="2148840"/>
          </a:xfrm>
          <a:prstGeom prst="rect">
            <a:avLst/>
          </a:prstGeom>
          <a:solidFill>
            <a:srgbClr val="16273D"/>
          </a:solidFill>
          <a:ln w="12700">
            <a:solidFill>
              <a:srgbClr val="24384F"/>
            </a:solidFill>
            <a:prstDash val="solid"/>
          </a:ln>
        </p:spPr>
      </p:sp>
      <p:sp>
        <p:nvSpPr>
          <p:cNvPr id="6" name="Shape 4"/>
          <p:cNvSpPr/>
          <p:nvPr/>
        </p:nvSpPr>
        <p:spPr>
          <a:xfrm>
            <a:off x="1078992" y="2029968"/>
            <a:ext cx="603504" cy="603504"/>
          </a:xfrm>
          <a:prstGeom prst="ellipse">
            <a:avLst/>
          </a:prstGeom>
          <a:solidFill>
            <a:srgbClr val="E8852B"/>
          </a:solidFill>
          <a:ln/>
        </p:spPr>
      </p:sp>
      <p:pic>
        <p:nvPicPr>
          <p:cNvPr id="7" name="Image 0" descr="preencoded.png">    </p:cNvPr>
          <p:cNvPicPr>
            <a:picLocks noChangeAspect="1"/>
          </p:cNvPicPr>
          <p:nvPr/>
        </p:nvPicPr>
        <p:blipFill>
          <a:blip r:embed="rId1"/>
          <a:stretch>
            <a:fillRect/>
          </a:stretch>
        </p:blipFill>
        <p:spPr>
          <a:xfrm>
            <a:off x="1225296" y="2176272"/>
            <a:ext cx="310896" cy="310896"/>
          </a:xfrm>
          <a:prstGeom prst="rect">
            <a:avLst/>
          </a:prstGeom>
        </p:spPr>
      </p:pic>
      <p:sp>
        <p:nvSpPr>
          <p:cNvPr id="8" name="Text 5"/>
          <p:cNvSpPr/>
          <p:nvPr/>
        </p:nvSpPr>
        <p:spPr>
          <a:xfrm>
            <a:off x="1078992" y="2743200"/>
            <a:ext cx="2157984" cy="502920"/>
          </a:xfrm>
          <a:prstGeom prst="rect">
            <a:avLst/>
          </a:prstGeom>
          <a:noFill/>
          <a:ln/>
        </p:spPr>
        <p:txBody>
          <a:bodyPr wrap="square" lIns="0" tIns="0" rIns="0" bIns="0"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AI-enabled execution</a:t>
            </a:r>
            <a:endParaRPr lang="en-US" sz="1450" dirty="0"/>
          </a:p>
        </p:txBody>
      </p:sp>
      <p:sp>
        <p:nvSpPr>
          <p:cNvPr id="9" name="Text 6"/>
          <p:cNvSpPr/>
          <p:nvPr/>
        </p:nvSpPr>
        <p:spPr>
          <a:xfrm>
            <a:off x="1078992" y="3200400"/>
            <a:ext cx="2139696" cy="685800"/>
          </a:xfrm>
          <a:prstGeom prst="rect">
            <a:avLst/>
          </a:prstGeom>
          <a:noFill/>
          <a:ln/>
        </p:spPr>
        <p:txBody>
          <a:bodyPr wrap="square" lIns="0" tIns="0" rIns="0" bIns="0" rtlCol="0" anchor="ctr"/>
          <a:lstStyle/>
          <a:p>
            <a:pPr indent="0" marL="0">
              <a:lnSpc>
                <a:spcPct val="103000"/>
              </a:lnSpc>
              <a:buNone/>
            </a:pPr>
            <a:r>
              <a:rPr lang="en-US" sz="1150" dirty="0">
                <a:solidFill>
                  <a:srgbClr val="93A7C0"/>
                </a:solidFill>
                <a:latin typeface="Calibri" pitchFamily="34" charset="0"/>
                <a:ea typeface="Calibri" pitchFamily="34" charset="-122"/>
                <a:cs typeface="Calibri" pitchFamily="34" charset="-120"/>
              </a:rPr>
              <a:t>An AI-equipped team that runs the work, with more output and less overhead.</a:t>
            </a:r>
            <a:endParaRPr lang="en-US" sz="1150" dirty="0"/>
          </a:p>
        </p:txBody>
      </p:sp>
      <p:sp>
        <p:nvSpPr>
          <p:cNvPr id="10" name="Shape 7"/>
          <p:cNvSpPr/>
          <p:nvPr/>
        </p:nvSpPr>
        <p:spPr>
          <a:xfrm>
            <a:off x="3602736" y="1783080"/>
            <a:ext cx="2615184" cy="2148840"/>
          </a:xfrm>
          <a:prstGeom prst="rect">
            <a:avLst/>
          </a:prstGeom>
          <a:solidFill>
            <a:srgbClr val="16273D"/>
          </a:solidFill>
          <a:ln w="12700">
            <a:solidFill>
              <a:srgbClr val="24384F"/>
            </a:solidFill>
            <a:prstDash val="solid"/>
          </a:ln>
        </p:spPr>
      </p:sp>
      <p:sp>
        <p:nvSpPr>
          <p:cNvPr id="11" name="Shape 8"/>
          <p:cNvSpPr/>
          <p:nvPr/>
        </p:nvSpPr>
        <p:spPr>
          <a:xfrm>
            <a:off x="3858768" y="2029968"/>
            <a:ext cx="603504" cy="603504"/>
          </a:xfrm>
          <a:prstGeom prst="ellipse">
            <a:avLst/>
          </a:prstGeom>
          <a:solidFill>
            <a:srgbClr val="E8852B"/>
          </a:solidFill>
          <a:ln/>
        </p:spPr>
      </p:sp>
      <p:pic>
        <p:nvPicPr>
          <p:cNvPr id="12" name="Image 1" descr="preencoded.png">    </p:cNvPr>
          <p:cNvPicPr>
            <a:picLocks noChangeAspect="1"/>
          </p:cNvPicPr>
          <p:nvPr/>
        </p:nvPicPr>
        <p:blipFill>
          <a:blip r:embed="rId2"/>
          <a:stretch>
            <a:fillRect/>
          </a:stretch>
        </p:blipFill>
        <p:spPr>
          <a:xfrm>
            <a:off x="4005072" y="2176272"/>
            <a:ext cx="310896" cy="310896"/>
          </a:xfrm>
          <a:prstGeom prst="rect">
            <a:avLst/>
          </a:prstGeom>
        </p:spPr>
      </p:pic>
      <p:sp>
        <p:nvSpPr>
          <p:cNvPr id="13" name="Text 9"/>
          <p:cNvSpPr/>
          <p:nvPr/>
        </p:nvSpPr>
        <p:spPr>
          <a:xfrm>
            <a:off x="3858768" y="2743200"/>
            <a:ext cx="2157984" cy="502920"/>
          </a:xfrm>
          <a:prstGeom prst="rect">
            <a:avLst/>
          </a:prstGeom>
          <a:noFill/>
          <a:ln/>
        </p:spPr>
        <p:txBody>
          <a:bodyPr wrap="square" lIns="0" tIns="0" rIns="0" bIns="0"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Outbound in-house</a:t>
            </a:r>
            <a:endParaRPr lang="en-US" sz="1450" dirty="0"/>
          </a:p>
        </p:txBody>
      </p:sp>
      <p:sp>
        <p:nvSpPr>
          <p:cNvPr id="14" name="Text 10"/>
          <p:cNvSpPr/>
          <p:nvPr/>
        </p:nvSpPr>
        <p:spPr>
          <a:xfrm>
            <a:off x="3858768" y="3200400"/>
            <a:ext cx="2139696" cy="685800"/>
          </a:xfrm>
          <a:prstGeom prst="rect">
            <a:avLst/>
          </a:prstGeom>
          <a:noFill/>
          <a:ln/>
        </p:spPr>
        <p:txBody>
          <a:bodyPr wrap="square" lIns="0" tIns="0" rIns="0" bIns="0" rtlCol="0" anchor="ctr"/>
          <a:lstStyle/>
          <a:p>
            <a:pPr indent="0" marL="0">
              <a:lnSpc>
                <a:spcPct val="103000"/>
              </a:lnSpc>
              <a:buNone/>
            </a:pPr>
            <a:r>
              <a:rPr lang="en-US" sz="1150" dirty="0">
                <a:solidFill>
                  <a:srgbClr val="93A7C0"/>
                </a:solidFill>
                <a:latin typeface="Calibri" pitchFamily="34" charset="0"/>
                <a:ea typeface="Calibri" pitchFamily="34" charset="-122"/>
                <a:cs typeface="Calibri" pitchFamily="34" charset="-120"/>
              </a:rPr>
              <a:t>We run cold email outreach ourselves, with no outsourced agency markup.</a:t>
            </a:r>
            <a:endParaRPr lang="en-US" sz="1150" dirty="0"/>
          </a:p>
        </p:txBody>
      </p:sp>
      <p:sp>
        <p:nvSpPr>
          <p:cNvPr id="15" name="Shape 11"/>
          <p:cNvSpPr/>
          <p:nvPr/>
        </p:nvSpPr>
        <p:spPr>
          <a:xfrm>
            <a:off x="6382512" y="1783080"/>
            <a:ext cx="2615184" cy="2148840"/>
          </a:xfrm>
          <a:prstGeom prst="rect">
            <a:avLst/>
          </a:prstGeom>
          <a:solidFill>
            <a:srgbClr val="16273D"/>
          </a:solidFill>
          <a:ln w="12700">
            <a:solidFill>
              <a:srgbClr val="24384F"/>
            </a:solidFill>
            <a:prstDash val="solid"/>
          </a:ln>
        </p:spPr>
      </p:sp>
      <p:sp>
        <p:nvSpPr>
          <p:cNvPr id="16" name="Shape 12"/>
          <p:cNvSpPr/>
          <p:nvPr/>
        </p:nvSpPr>
        <p:spPr>
          <a:xfrm>
            <a:off x="6638544" y="2029968"/>
            <a:ext cx="603504" cy="603504"/>
          </a:xfrm>
          <a:prstGeom prst="ellipse">
            <a:avLst/>
          </a:prstGeom>
          <a:solidFill>
            <a:srgbClr val="E8852B"/>
          </a:solidFill>
          <a:ln/>
        </p:spPr>
      </p:sp>
      <p:pic>
        <p:nvPicPr>
          <p:cNvPr id="17" name="Image 2" descr="preencoded.png">    </p:cNvPr>
          <p:cNvPicPr>
            <a:picLocks noChangeAspect="1"/>
          </p:cNvPicPr>
          <p:nvPr/>
        </p:nvPicPr>
        <p:blipFill>
          <a:blip r:embed="rId3"/>
          <a:stretch>
            <a:fillRect/>
          </a:stretch>
        </p:blipFill>
        <p:spPr>
          <a:xfrm>
            <a:off x="6784848" y="2176272"/>
            <a:ext cx="310896" cy="310896"/>
          </a:xfrm>
          <a:prstGeom prst="rect">
            <a:avLst/>
          </a:prstGeom>
        </p:spPr>
      </p:pic>
      <p:sp>
        <p:nvSpPr>
          <p:cNvPr id="18" name="Text 13"/>
          <p:cNvSpPr/>
          <p:nvPr/>
        </p:nvSpPr>
        <p:spPr>
          <a:xfrm>
            <a:off x="6638544" y="2743200"/>
            <a:ext cx="2157984" cy="502920"/>
          </a:xfrm>
          <a:prstGeom prst="rect">
            <a:avLst/>
          </a:prstGeom>
          <a:noFill/>
          <a:ln/>
        </p:spPr>
        <p:txBody>
          <a:bodyPr wrap="square" lIns="0" tIns="0" rIns="0" bIns="0"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Proven at scale</a:t>
            </a:r>
            <a:endParaRPr lang="en-US" sz="1450" dirty="0"/>
          </a:p>
        </p:txBody>
      </p:sp>
      <p:sp>
        <p:nvSpPr>
          <p:cNvPr id="19" name="Text 14"/>
          <p:cNvSpPr/>
          <p:nvPr/>
        </p:nvSpPr>
        <p:spPr>
          <a:xfrm>
            <a:off x="6638544" y="3200400"/>
            <a:ext cx="2139696" cy="685800"/>
          </a:xfrm>
          <a:prstGeom prst="rect">
            <a:avLst/>
          </a:prstGeom>
          <a:noFill/>
          <a:ln/>
        </p:spPr>
        <p:txBody>
          <a:bodyPr wrap="square" lIns="0" tIns="0" rIns="0" bIns="0" rtlCol="0" anchor="ctr"/>
          <a:lstStyle/>
          <a:p>
            <a:pPr indent="0" marL="0">
              <a:lnSpc>
                <a:spcPct val="103000"/>
              </a:lnSpc>
              <a:buNone/>
            </a:pPr>
            <a:r>
              <a:rPr lang="en-US" sz="1150" dirty="0">
                <a:solidFill>
                  <a:srgbClr val="93A7C0"/>
                </a:solidFill>
                <a:latin typeface="Calibri" pitchFamily="34" charset="0"/>
                <a:ea typeface="Calibri" pitchFamily="34" charset="-122"/>
                <a:cs typeface="Calibri" pitchFamily="34" charset="-120"/>
              </a:rPr>
              <a:t>We've taken category leaders (incl. test-prep) past $10M in revenue.</a:t>
            </a:r>
            <a:endParaRPr lang="en-US" sz="1150" dirty="0"/>
          </a:p>
        </p:txBody>
      </p:sp>
      <p:sp>
        <p:nvSpPr>
          <p:cNvPr id="20" name="Shape 15"/>
          <p:cNvSpPr/>
          <p:nvPr/>
        </p:nvSpPr>
        <p:spPr>
          <a:xfrm>
            <a:off x="9162288" y="1783080"/>
            <a:ext cx="2615184" cy="2148840"/>
          </a:xfrm>
          <a:prstGeom prst="rect">
            <a:avLst/>
          </a:prstGeom>
          <a:solidFill>
            <a:srgbClr val="16273D"/>
          </a:solidFill>
          <a:ln w="12700">
            <a:solidFill>
              <a:srgbClr val="24384F"/>
            </a:solidFill>
            <a:prstDash val="solid"/>
          </a:ln>
        </p:spPr>
      </p:sp>
      <p:sp>
        <p:nvSpPr>
          <p:cNvPr id="21" name="Shape 16"/>
          <p:cNvSpPr/>
          <p:nvPr/>
        </p:nvSpPr>
        <p:spPr>
          <a:xfrm>
            <a:off x="9418320" y="2029968"/>
            <a:ext cx="603504" cy="603504"/>
          </a:xfrm>
          <a:prstGeom prst="ellipse">
            <a:avLst/>
          </a:prstGeom>
          <a:solidFill>
            <a:srgbClr val="E8852B"/>
          </a:solidFill>
          <a:ln/>
        </p:spPr>
      </p:sp>
      <p:pic>
        <p:nvPicPr>
          <p:cNvPr id="22" name="Image 3" descr="preencoded.png">    </p:cNvPr>
          <p:cNvPicPr>
            <a:picLocks noChangeAspect="1"/>
          </p:cNvPicPr>
          <p:nvPr/>
        </p:nvPicPr>
        <p:blipFill>
          <a:blip r:embed="rId4"/>
          <a:stretch>
            <a:fillRect/>
          </a:stretch>
        </p:blipFill>
        <p:spPr>
          <a:xfrm>
            <a:off x="9564624" y="2176272"/>
            <a:ext cx="310896" cy="310896"/>
          </a:xfrm>
          <a:prstGeom prst="rect">
            <a:avLst/>
          </a:prstGeom>
        </p:spPr>
      </p:pic>
      <p:sp>
        <p:nvSpPr>
          <p:cNvPr id="23" name="Text 17"/>
          <p:cNvSpPr/>
          <p:nvPr/>
        </p:nvSpPr>
        <p:spPr>
          <a:xfrm>
            <a:off x="9418320" y="2743200"/>
            <a:ext cx="2157984" cy="502920"/>
          </a:xfrm>
          <a:prstGeom prst="rect">
            <a:avLst/>
          </a:prstGeom>
          <a:noFill/>
          <a:ln/>
        </p:spPr>
        <p:txBody>
          <a:bodyPr wrap="square" lIns="0" tIns="0" rIns="0" bIns="0"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Modular &amp; flexible</a:t>
            </a:r>
            <a:endParaRPr lang="en-US" sz="1450" dirty="0"/>
          </a:p>
        </p:txBody>
      </p:sp>
      <p:sp>
        <p:nvSpPr>
          <p:cNvPr id="24" name="Text 18"/>
          <p:cNvSpPr/>
          <p:nvPr/>
        </p:nvSpPr>
        <p:spPr>
          <a:xfrm>
            <a:off x="9418320" y="3200400"/>
            <a:ext cx="2139696" cy="685800"/>
          </a:xfrm>
          <a:prstGeom prst="rect">
            <a:avLst/>
          </a:prstGeom>
          <a:noFill/>
          <a:ln/>
        </p:spPr>
        <p:txBody>
          <a:bodyPr wrap="square" lIns="0" tIns="0" rIns="0" bIns="0" rtlCol="0" anchor="ctr"/>
          <a:lstStyle/>
          <a:p>
            <a:pPr indent="0" marL="0">
              <a:lnSpc>
                <a:spcPct val="103000"/>
              </a:lnSpc>
              <a:buNone/>
            </a:pPr>
            <a:r>
              <a:rPr lang="en-US" sz="1150" dirty="0">
                <a:solidFill>
                  <a:srgbClr val="93A7C0"/>
                </a:solidFill>
                <a:latin typeface="Calibri" pitchFamily="34" charset="0"/>
                <a:ea typeface="Calibri" pitchFamily="34" charset="-122"/>
                <a:cs typeface="Calibri" pitchFamily="34" charset="-120"/>
              </a:rPr>
              <a:t>Scale up or down by module as the data tells us what's working.</a:t>
            </a:r>
            <a:endParaRPr lang="en-US" sz="1150" dirty="0"/>
          </a:p>
        </p:txBody>
      </p:sp>
      <p:sp>
        <p:nvSpPr>
          <p:cNvPr id="25" name="Shape 19"/>
          <p:cNvSpPr/>
          <p:nvPr/>
        </p:nvSpPr>
        <p:spPr>
          <a:xfrm>
            <a:off x="822960" y="4251960"/>
            <a:ext cx="10543032" cy="1965960"/>
          </a:xfrm>
          <a:prstGeom prst="rect">
            <a:avLst/>
          </a:prstGeom>
          <a:solidFill>
            <a:srgbClr val="16273D"/>
          </a:solidFill>
          <a:ln w="12700">
            <a:solidFill>
              <a:srgbClr val="24384F"/>
            </a:solidFill>
            <a:prstDash val="solid"/>
          </a:ln>
        </p:spPr>
      </p:sp>
      <p:sp>
        <p:nvSpPr>
          <p:cNvPr id="26" name="Shape 20"/>
          <p:cNvSpPr/>
          <p:nvPr/>
        </p:nvSpPr>
        <p:spPr>
          <a:xfrm>
            <a:off x="822960" y="4251960"/>
            <a:ext cx="10543032" cy="82296"/>
          </a:xfrm>
          <a:prstGeom prst="rect">
            <a:avLst/>
          </a:prstGeom>
          <a:solidFill>
            <a:srgbClr val="E8852B"/>
          </a:solidFill>
          <a:ln/>
        </p:spPr>
      </p:sp>
      <p:sp>
        <p:nvSpPr>
          <p:cNvPr id="27" name="Text 21"/>
          <p:cNvSpPr/>
          <p:nvPr/>
        </p:nvSpPr>
        <p:spPr>
          <a:xfrm>
            <a:off x="1097280" y="4434840"/>
            <a:ext cx="548640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Next steps</a:t>
            </a:r>
            <a:endParaRPr lang="en-US" sz="1800" dirty="0"/>
          </a:p>
        </p:txBody>
      </p:sp>
      <p:sp>
        <p:nvSpPr>
          <p:cNvPr id="28" name="Shape 22"/>
          <p:cNvSpPr/>
          <p:nvPr/>
        </p:nvSpPr>
        <p:spPr>
          <a:xfrm>
            <a:off x="1097280" y="5029200"/>
            <a:ext cx="548640" cy="548640"/>
          </a:xfrm>
          <a:prstGeom prst="ellipse">
            <a:avLst/>
          </a:prstGeom>
          <a:solidFill>
            <a:srgbClr val="E8852B"/>
          </a:solidFill>
          <a:ln/>
        </p:spPr>
      </p:sp>
      <p:sp>
        <p:nvSpPr>
          <p:cNvPr id="29" name="Text 23"/>
          <p:cNvSpPr/>
          <p:nvPr/>
        </p:nvSpPr>
        <p:spPr>
          <a:xfrm>
            <a:off x="1097280" y="5029200"/>
            <a:ext cx="548640" cy="548640"/>
          </a:xfrm>
          <a:prstGeom prst="rect">
            <a:avLst/>
          </a:prstGeom>
          <a:noFill/>
          <a:ln/>
        </p:spPr>
        <p:txBody>
          <a:bodyPr wrap="square" lIns="0" tIns="0" rIns="0" bIns="0" rtlCol="0" anchor="ctr"/>
          <a:lstStyle/>
          <a:p>
            <a:pPr algn="ctr" indent="0" marL="0">
              <a:buNone/>
            </a:pPr>
            <a:r>
              <a:rPr lang="en-US" sz="2000" b="1" dirty="0">
                <a:solidFill>
                  <a:srgbClr val="0E1A2B"/>
                </a:solidFill>
                <a:latin typeface="Georgia" pitchFamily="34" charset="0"/>
                <a:ea typeface="Georgia" pitchFamily="34" charset="-122"/>
                <a:cs typeface="Georgia" pitchFamily="34" charset="-120"/>
              </a:rPr>
              <a:t>1</a:t>
            </a:r>
            <a:endParaRPr lang="en-US" sz="2000" dirty="0"/>
          </a:p>
        </p:txBody>
      </p:sp>
      <p:sp>
        <p:nvSpPr>
          <p:cNvPr id="30" name="Text 24"/>
          <p:cNvSpPr/>
          <p:nvPr/>
        </p:nvSpPr>
        <p:spPr>
          <a:xfrm>
            <a:off x="1783080" y="5047488"/>
            <a:ext cx="265176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This week</a:t>
            </a:r>
            <a:endParaRPr lang="en-US" sz="1500" dirty="0"/>
          </a:p>
        </p:txBody>
      </p:sp>
      <p:sp>
        <p:nvSpPr>
          <p:cNvPr id="31" name="Text 25"/>
          <p:cNvSpPr/>
          <p:nvPr/>
        </p:nvSpPr>
        <p:spPr>
          <a:xfrm>
            <a:off x="1783080" y="5358384"/>
            <a:ext cx="2697480" cy="548640"/>
          </a:xfrm>
          <a:prstGeom prst="rect">
            <a:avLst/>
          </a:prstGeom>
          <a:noFill/>
          <a:ln/>
        </p:spPr>
        <p:txBody>
          <a:bodyPr wrap="square" lIns="0" tIns="0" rIns="0" bIns="0" rtlCol="0" anchor="ctr"/>
          <a:lstStyle/>
          <a:p>
            <a:pPr indent="0" marL="0">
              <a:lnSpc>
                <a:spcPct val="100000"/>
              </a:lnSpc>
              <a:buNone/>
            </a:pPr>
            <a:r>
              <a:rPr lang="en-US" sz="1150" dirty="0">
                <a:solidFill>
                  <a:srgbClr val="DCE7F5"/>
                </a:solidFill>
                <a:latin typeface="Calibri" pitchFamily="34" charset="0"/>
                <a:ea typeface="Calibri" pitchFamily="34" charset="-122"/>
                <a:cs typeface="Calibri" pitchFamily="34" charset="-120"/>
              </a:rPr>
              <a:t>EmberTribe finalizes strategy &amp; scope</a:t>
            </a:r>
            <a:endParaRPr lang="en-US" sz="1150" dirty="0"/>
          </a:p>
        </p:txBody>
      </p:sp>
      <p:sp>
        <p:nvSpPr>
          <p:cNvPr id="32" name="Text 26"/>
          <p:cNvSpPr/>
          <p:nvPr/>
        </p:nvSpPr>
        <p:spPr>
          <a:xfrm>
            <a:off x="4160520" y="5029200"/>
            <a:ext cx="365760" cy="548640"/>
          </a:xfrm>
          <a:prstGeom prst="rect">
            <a:avLst/>
          </a:prstGeom>
          <a:noFill/>
          <a:ln/>
        </p:spPr>
        <p:txBody>
          <a:bodyPr wrap="square" lIns="0" tIns="0" rIns="0" bIns="0" rtlCol="0" anchor="ctr"/>
          <a:lstStyle/>
          <a:p>
            <a:pPr algn="ctr" indent="0" marL="0">
              <a:buNone/>
            </a:pPr>
            <a:r>
              <a:rPr lang="en-US" sz="2000" dirty="0">
                <a:solidFill>
                  <a:srgbClr val="E8852B"/>
                </a:solidFill>
                <a:latin typeface="Calibri" pitchFamily="34" charset="0"/>
                <a:ea typeface="Calibri" pitchFamily="34" charset="-122"/>
                <a:cs typeface="Calibri" pitchFamily="34" charset="-120"/>
              </a:rPr>
              <a:t>→</a:t>
            </a:r>
            <a:endParaRPr lang="en-US" sz="2000" dirty="0"/>
          </a:p>
        </p:txBody>
      </p:sp>
      <p:sp>
        <p:nvSpPr>
          <p:cNvPr id="33" name="Shape 27"/>
          <p:cNvSpPr/>
          <p:nvPr/>
        </p:nvSpPr>
        <p:spPr>
          <a:xfrm>
            <a:off x="4553712" y="5029200"/>
            <a:ext cx="548640" cy="548640"/>
          </a:xfrm>
          <a:prstGeom prst="ellipse">
            <a:avLst/>
          </a:prstGeom>
          <a:solidFill>
            <a:srgbClr val="E8852B"/>
          </a:solidFill>
          <a:ln/>
        </p:spPr>
      </p:sp>
      <p:sp>
        <p:nvSpPr>
          <p:cNvPr id="34" name="Text 28"/>
          <p:cNvSpPr/>
          <p:nvPr/>
        </p:nvSpPr>
        <p:spPr>
          <a:xfrm>
            <a:off x="4553712" y="5029200"/>
            <a:ext cx="548640" cy="548640"/>
          </a:xfrm>
          <a:prstGeom prst="rect">
            <a:avLst/>
          </a:prstGeom>
          <a:noFill/>
          <a:ln/>
        </p:spPr>
        <p:txBody>
          <a:bodyPr wrap="square" lIns="0" tIns="0" rIns="0" bIns="0" rtlCol="0" anchor="ctr"/>
          <a:lstStyle/>
          <a:p>
            <a:pPr algn="ctr" indent="0" marL="0">
              <a:buNone/>
            </a:pPr>
            <a:r>
              <a:rPr lang="en-US" sz="2000" b="1" dirty="0">
                <a:solidFill>
                  <a:srgbClr val="0E1A2B"/>
                </a:solidFill>
                <a:latin typeface="Georgia" pitchFamily="34" charset="0"/>
                <a:ea typeface="Georgia" pitchFamily="34" charset="-122"/>
                <a:cs typeface="Georgia" pitchFamily="34" charset="-120"/>
              </a:rPr>
              <a:t>2</a:t>
            </a:r>
            <a:endParaRPr lang="en-US" sz="2000" dirty="0"/>
          </a:p>
        </p:txBody>
      </p:sp>
      <p:sp>
        <p:nvSpPr>
          <p:cNvPr id="35" name="Text 29"/>
          <p:cNvSpPr/>
          <p:nvPr/>
        </p:nvSpPr>
        <p:spPr>
          <a:xfrm>
            <a:off x="5239512" y="5047488"/>
            <a:ext cx="265176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Thursday</a:t>
            </a:r>
            <a:endParaRPr lang="en-US" sz="1500" dirty="0"/>
          </a:p>
        </p:txBody>
      </p:sp>
      <p:sp>
        <p:nvSpPr>
          <p:cNvPr id="36" name="Text 30"/>
          <p:cNvSpPr/>
          <p:nvPr/>
        </p:nvSpPr>
        <p:spPr>
          <a:xfrm>
            <a:off x="5239512" y="5358384"/>
            <a:ext cx="2697480" cy="548640"/>
          </a:xfrm>
          <a:prstGeom prst="rect">
            <a:avLst/>
          </a:prstGeom>
          <a:noFill/>
          <a:ln/>
        </p:spPr>
        <p:txBody>
          <a:bodyPr wrap="square" lIns="0" tIns="0" rIns="0" bIns="0" rtlCol="0" anchor="ctr"/>
          <a:lstStyle/>
          <a:p>
            <a:pPr indent="0" marL="0">
              <a:lnSpc>
                <a:spcPct val="100000"/>
              </a:lnSpc>
              <a:buNone/>
            </a:pPr>
            <a:r>
              <a:rPr lang="en-US" sz="1150" dirty="0">
                <a:solidFill>
                  <a:srgbClr val="DCE7F5"/>
                </a:solidFill>
                <a:latin typeface="Calibri" pitchFamily="34" charset="0"/>
                <a:ea typeface="Calibri" pitchFamily="34" charset="-122"/>
                <a:cs typeface="Calibri" pitchFamily="34" charset="-120"/>
              </a:rPr>
              <a:t>Review call with Derek to align &amp; tune</a:t>
            </a:r>
            <a:endParaRPr lang="en-US" sz="1150" dirty="0"/>
          </a:p>
        </p:txBody>
      </p:sp>
      <p:sp>
        <p:nvSpPr>
          <p:cNvPr id="37" name="Text 31"/>
          <p:cNvSpPr/>
          <p:nvPr/>
        </p:nvSpPr>
        <p:spPr>
          <a:xfrm>
            <a:off x="7616952" y="5029200"/>
            <a:ext cx="365760" cy="548640"/>
          </a:xfrm>
          <a:prstGeom prst="rect">
            <a:avLst/>
          </a:prstGeom>
          <a:noFill/>
          <a:ln/>
        </p:spPr>
        <p:txBody>
          <a:bodyPr wrap="square" lIns="0" tIns="0" rIns="0" bIns="0" rtlCol="0" anchor="ctr"/>
          <a:lstStyle/>
          <a:p>
            <a:pPr algn="ctr" indent="0" marL="0">
              <a:buNone/>
            </a:pPr>
            <a:r>
              <a:rPr lang="en-US" sz="2000" dirty="0">
                <a:solidFill>
                  <a:srgbClr val="E8852B"/>
                </a:solidFill>
                <a:latin typeface="Calibri" pitchFamily="34" charset="0"/>
                <a:ea typeface="Calibri" pitchFamily="34" charset="-122"/>
                <a:cs typeface="Calibri" pitchFamily="34" charset="-120"/>
              </a:rPr>
              <a:t>→</a:t>
            </a:r>
            <a:endParaRPr lang="en-US" sz="2000" dirty="0"/>
          </a:p>
        </p:txBody>
      </p:sp>
      <p:sp>
        <p:nvSpPr>
          <p:cNvPr id="38" name="Shape 32"/>
          <p:cNvSpPr/>
          <p:nvPr/>
        </p:nvSpPr>
        <p:spPr>
          <a:xfrm>
            <a:off x="8010144" y="5029200"/>
            <a:ext cx="548640" cy="548640"/>
          </a:xfrm>
          <a:prstGeom prst="ellipse">
            <a:avLst/>
          </a:prstGeom>
          <a:solidFill>
            <a:srgbClr val="E8852B"/>
          </a:solidFill>
          <a:ln/>
        </p:spPr>
      </p:sp>
      <p:sp>
        <p:nvSpPr>
          <p:cNvPr id="39" name="Text 33"/>
          <p:cNvSpPr/>
          <p:nvPr/>
        </p:nvSpPr>
        <p:spPr>
          <a:xfrm>
            <a:off x="8010144" y="5029200"/>
            <a:ext cx="548640" cy="548640"/>
          </a:xfrm>
          <a:prstGeom prst="rect">
            <a:avLst/>
          </a:prstGeom>
          <a:noFill/>
          <a:ln/>
        </p:spPr>
        <p:txBody>
          <a:bodyPr wrap="square" lIns="0" tIns="0" rIns="0" bIns="0" rtlCol="0" anchor="ctr"/>
          <a:lstStyle/>
          <a:p>
            <a:pPr algn="ctr" indent="0" marL="0">
              <a:buNone/>
            </a:pPr>
            <a:r>
              <a:rPr lang="en-US" sz="2000" b="1" dirty="0">
                <a:solidFill>
                  <a:srgbClr val="0E1A2B"/>
                </a:solidFill>
                <a:latin typeface="Georgia" pitchFamily="34" charset="0"/>
                <a:ea typeface="Georgia" pitchFamily="34" charset="-122"/>
                <a:cs typeface="Georgia" pitchFamily="34" charset="-120"/>
              </a:rPr>
              <a:t>3</a:t>
            </a:r>
            <a:endParaRPr lang="en-US" sz="2000" dirty="0"/>
          </a:p>
        </p:txBody>
      </p:sp>
      <p:sp>
        <p:nvSpPr>
          <p:cNvPr id="40" name="Text 34"/>
          <p:cNvSpPr/>
          <p:nvPr/>
        </p:nvSpPr>
        <p:spPr>
          <a:xfrm>
            <a:off x="8695944" y="5047488"/>
            <a:ext cx="265176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Tuesday</a:t>
            </a:r>
            <a:endParaRPr lang="en-US" sz="1500" dirty="0"/>
          </a:p>
        </p:txBody>
      </p:sp>
      <p:sp>
        <p:nvSpPr>
          <p:cNvPr id="41" name="Text 35"/>
          <p:cNvSpPr/>
          <p:nvPr/>
        </p:nvSpPr>
        <p:spPr>
          <a:xfrm>
            <a:off x="8695944" y="5358384"/>
            <a:ext cx="2697480" cy="548640"/>
          </a:xfrm>
          <a:prstGeom prst="rect">
            <a:avLst/>
          </a:prstGeom>
          <a:noFill/>
          <a:ln/>
        </p:spPr>
        <p:txBody>
          <a:bodyPr wrap="square" lIns="0" tIns="0" rIns="0" bIns="0" rtlCol="0" anchor="ctr"/>
          <a:lstStyle/>
          <a:p>
            <a:pPr indent="0" marL="0">
              <a:lnSpc>
                <a:spcPct val="100000"/>
              </a:lnSpc>
              <a:buNone/>
            </a:pPr>
            <a:r>
              <a:rPr lang="en-US" sz="1150" dirty="0">
                <a:solidFill>
                  <a:srgbClr val="DCE7F5"/>
                </a:solidFill>
                <a:latin typeface="Calibri" pitchFamily="34" charset="0"/>
                <a:ea typeface="Calibri" pitchFamily="34" charset="-122"/>
                <a:cs typeface="Calibri" pitchFamily="34" charset="-120"/>
              </a:rPr>
              <a:t>Board-ready summary for the board meeting</a:t>
            </a:r>
            <a:endParaRPr lang="en-US" sz="1150" dirty="0"/>
          </a:p>
        </p:txBody>
      </p:sp>
      <p:sp>
        <p:nvSpPr>
          <p:cNvPr id="42" name="Text 36"/>
          <p:cNvSpPr/>
          <p:nvPr/>
        </p:nvSpPr>
        <p:spPr>
          <a:xfrm>
            <a:off x="822960" y="6446520"/>
            <a:ext cx="7315200" cy="274320"/>
          </a:xfrm>
          <a:prstGeom prst="rect">
            <a:avLst/>
          </a:prstGeom>
          <a:noFill/>
          <a:ln/>
        </p:spPr>
        <p:txBody>
          <a:bodyPr wrap="square" lIns="0" tIns="0" rIns="0" bIns="0" rtlCol="0" anchor="ctr"/>
          <a:lstStyle/>
          <a:p>
            <a:pPr indent="0" marL="0">
              <a:buNone/>
            </a:pPr>
            <a:r>
              <a:rPr lang="en-US" sz="900" dirty="0">
                <a:solidFill>
                  <a:srgbClr val="93A7C0"/>
                </a:solidFill>
                <a:latin typeface="Calibri" pitchFamily="34" charset="0"/>
                <a:ea typeface="Calibri" pitchFamily="34" charset="-122"/>
                <a:cs typeface="Calibri" pitchFamily="34" charset="-120"/>
              </a:rPr>
              <a:t>EmberTribe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Slate Technologies GTM Strategy &amp; Scope</dc:title>
  <dc:subject>PptxGenJS Presentation</dc:subject>
  <dc:creator>EmberTribe</dc:creator>
  <cp:lastModifiedBy>EmberTribe</cp:lastModifiedBy>
  <cp:revision>1</cp:revision>
  <dcterms:created xsi:type="dcterms:W3CDTF">2026-06-11T13:22:01Z</dcterms:created>
  <dcterms:modified xsi:type="dcterms:W3CDTF">2026-06-11T13:22:01Z</dcterms:modified>
</cp:coreProperties>
</file>